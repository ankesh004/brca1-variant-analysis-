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8" r:id="rId5"/>
    <p:sldId id="263" r:id="rId6"/>
    <p:sldId id="265" r:id="rId7"/>
    <p:sldId id="260" r:id="rId8"/>
    <p:sldId id="264" r:id="rId9"/>
    <p:sldId id="266" r:id="rId10"/>
    <p:sldId id="267" r:id="rId11"/>
    <p:sldId id="270"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5" d="100"/>
          <a:sy n="105" d="100"/>
        </p:scale>
        <p:origin x="82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nkes\OneDrive\Documents\project%20BRAC1\ClinVar_Data\polyphen2%20&amp;%20mutattion%20testing.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57418831939687831"/>
          <c:y val="7.486286659530674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0010918690985007E-2"/>
          <c:y val="1.8299371812609419E-2"/>
          <c:w val="0.94719215889724728"/>
          <c:h val="0.84457367193112043"/>
        </c:manualLayout>
      </c:layout>
      <c:barChart>
        <c:barDir val="col"/>
        <c:grouping val="clustered"/>
        <c:varyColors val="0"/>
        <c:ser>
          <c:idx val="0"/>
          <c:order val="0"/>
          <c:tx>
            <c:strRef>
              <c:f>Sheet1!$C$1</c:f>
              <c:strCache>
                <c:ptCount val="1"/>
                <c:pt idx="0">
                  <c:v>PolyPhen Score</c:v>
                </c:pt>
              </c:strCache>
            </c:strRef>
          </c:tx>
          <c:spPr>
            <a:solidFill>
              <a:schemeClr val="accent1"/>
            </a:solidFill>
            <a:ln>
              <a:noFill/>
            </a:ln>
            <a:effectLst/>
          </c:spPr>
          <c:invertIfNegative val="0"/>
          <c:cat>
            <c:strRef>
              <c:f>Sheet1!$A$2:$A$11</c:f>
              <c:strCache>
                <c:ptCount val="10"/>
                <c:pt idx="0">
                  <c:v>M18R</c:v>
                </c:pt>
                <c:pt idx="1">
                  <c:v>T1712I</c:v>
                </c:pt>
                <c:pt idx="2">
                  <c:v>W1739C</c:v>
                </c:pt>
                <c:pt idx="3">
                  <c:v>D1760Y</c:v>
                </c:pt>
                <c:pt idx="4">
                  <c:v>G1788V</c:v>
                </c:pt>
                <c:pt idx="5">
                  <c:v>W1858R</c:v>
                </c:pt>
                <c:pt idx="6">
                  <c:v>C61G</c:v>
                </c:pt>
                <c:pt idx="7">
                  <c:v>R1699W</c:v>
                </c:pt>
                <c:pt idx="8">
                  <c:v>M1775R</c:v>
                </c:pt>
                <c:pt idx="9">
                  <c:v>L1839S</c:v>
                </c:pt>
              </c:strCache>
            </c:strRef>
          </c:cat>
          <c:val>
            <c:numRef>
              <c:f>Sheet1!$C$2:$C$11</c:f>
              <c:numCache>
                <c:formatCode>General</c:formatCode>
                <c:ptCount val="10"/>
                <c:pt idx="0">
                  <c:v>0.97199999999999998</c:v>
                </c:pt>
                <c:pt idx="1">
                  <c:v>0.68300000000000005</c:v>
                </c:pt>
                <c:pt idx="2">
                  <c:v>0.999</c:v>
                </c:pt>
                <c:pt idx="3">
                  <c:v>0.97399999999999998</c:v>
                </c:pt>
                <c:pt idx="4">
                  <c:v>0.193</c:v>
                </c:pt>
                <c:pt idx="5">
                  <c:v>1</c:v>
                </c:pt>
                <c:pt idx="6">
                  <c:v>0.11600000000000001</c:v>
                </c:pt>
                <c:pt idx="7">
                  <c:v>0.999</c:v>
                </c:pt>
                <c:pt idx="8">
                  <c:v>0.64800000000000002</c:v>
                </c:pt>
                <c:pt idx="9">
                  <c:v>0.998</c:v>
                </c:pt>
              </c:numCache>
            </c:numRef>
          </c:val>
          <c:extLst>
            <c:ext xmlns:c16="http://schemas.microsoft.com/office/drawing/2014/chart" uri="{C3380CC4-5D6E-409C-BE32-E72D297353CC}">
              <c16:uniqueId val="{00000000-2565-4E36-99B3-9368EF93B53D}"/>
            </c:ext>
          </c:extLst>
        </c:ser>
        <c:dLbls>
          <c:showLegendKey val="0"/>
          <c:showVal val="0"/>
          <c:showCatName val="0"/>
          <c:showSerName val="0"/>
          <c:showPercent val="0"/>
          <c:showBubbleSize val="0"/>
        </c:dLbls>
        <c:gapWidth val="219"/>
        <c:overlap val="-27"/>
        <c:axId val="856452319"/>
        <c:axId val="856454239"/>
      </c:barChart>
      <c:catAx>
        <c:axId val="8564523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454239"/>
        <c:crosses val="autoZero"/>
        <c:auto val="1"/>
        <c:lblAlgn val="ctr"/>
        <c:lblOffset val="100"/>
        <c:noMultiLvlLbl val="0"/>
      </c:catAx>
      <c:valAx>
        <c:axId val="8564542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4523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C81DD0-06AA-4267-8A31-FDE7755BAF97}"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EACEC87E-4146-4115-9022-D2751A46CFE2}">
      <dgm:prSet phldrT="[Text]"/>
      <dgm:spPr/>
      <dgm:t>
        <a:bodyPr/>
        <a:lstStyle/>
        <a:p>
          <a:pPr>
            <a:buNone/>
          </a:pPr>
          <a:r>
            <a:rPr lang="en-IN" dirty="0"/>
            <a:t>Retrieve Variants from  </a:t>
          </a:r>
          <a:r>
            <a:rPr lang="en-IN" dirty="0" err="1"/>
            <a:t>ClinVIR</a:t>
          </a:r>
          <a:endParaRPr lang="en-IN" dirty="0"/>
        </a:p>
      </dgm:t>
    </dgm:pt>
    <dgm:pt modelId="{E91DE2DF-8FEA-4EE9-BDD4-D4DE2A91126E}" type="parTrans" cxnId="{BC6DD27B-FC4A-427C-8956-95E186771E63}">
      <dgm:prSet/>
      <dgm:spPr/>
      <dgm:t>
        <a:bodyPr/>
        <a:lstStyle/>
        <a:p>
          <a:endParaRPr lang="en-IN"/>
        </a:p>
      </dgm:t>
    </dgm:pt>
    <dgm:pt modelId="{B0EAAFA0-149F-4BD4-98EF-A94EC17F2907}" type="sibTrans" cxnId="{BC6DD27B-FC4A-427C-8956-95E186771E63}">
      <dgm:prSet/>
      <dgm:spPr/>
      <dgm:t>
        <a:bodyPr/>
        <a:lstStyle/>
        <a:p>
          <a:endParaRPr lang="en-IN"/>
        </a:p>
      </dgm:t>
    </dgm:pt>
    <dgm:pt modelId="{FA39F25B-CDDF-4DFD-8CE7-D735A214F4CB}">
      <dgm:prSet phldrT="[Text]" phldr="0"/>
      <dgm:spPr/>
      <dgm:t>
        <a:bodyPr/>
        <a:lstStyle/>
        <a:p>
          <a:r>
            <a:rPr lang="en-US" dirty="0" err="1"/>
            <a:t>Pathogenticity</a:t>
          </a:r>
          <a:r>
            <a:rPr lang="en-US" dirty="0"/>
            <a:t> </a:t>
          </a:r>
          <a:r>
            <a:rPr lang="en-US" dirty="0" err="1"/>
            <a:t>predicition</a:t>
          </a:r>
          <a:r>
            <a:rPr lang="en-US" dirty="0"/>
            <a:t> (PolyPhen-2)</a:t>
          </a:r>
          <a:endParaRPr lang="en-IN" dirty="0"/>
        </a:p>
      </dgm:t>
    </dgm:pt>
    <dgm:pt modelId="{B9D0184D-9CC5-4528-9E6F-2FBF2D6E7E78}" type="parTrans" cxnId="{13F1E842-AEBC-46F1-B3A8-018E6DB1BEAE}">
      <dgm:prSet/>
      <dgm:spPr/>
      <dgm:t>
        <a:bodyPr/>
        <a:lstStyle/>
        <a:p>
          <a:endParaRPr lang="en-IN"/>
        </a:p>
      </dgm:t>
    </dgm:pt>
    <dgm:pt modelId="{100134BD-5D6E-423F-85C7-3CC99DC56BB9}" type="sibTrans" cxnId="{13F1E842-AEBC-46F1-B3A8-018E6DB1BEAE}">
      <dgm:prSet/>
      <dgm:spPr/>
      <dgm:t>
        <a:bodyPr/>
        <a:lstStyle/>
        <a:p>
          <a:endParaRPr lang="en-IN"/>
        </a:p>
      </dgm:t>
    </dgm:pt>
    <dgm:pt modelId="{6BA27496-6885-4D0A-BE76-8ACF299AE313}">
      <dgm:prSet phldrT="[Text]" phldr="0"/>
      <dgm:spPr/>
      <dgm:t>
        <a:bodyPr/>
        <a:lstStyle/>
        <a:p>
          <a:r>
            <a:rPr lang="en-US" dirty="0"/>
            <a:t>Variant assessment (mutation testing)</a:t>
          </a:r>
          <a:endParaRPr lang="en-IN" dirty="0"/>
        </a:p>
      </dgm:t>
    </dgm:pt>
    <dgm:pt modelId="{90EE37D5-9933-4DFE-8FF2-1FFF4A66BB76}" type="parTrans" cxnId="{F9D9B6D3-7C5F-42A7-86D2-734C0C415C4F}">
      <dgm:prSet/>
      <dgm:spPr/>
      <dgm:t>
        <a:bodyPr/>
        <a:lstStyle/>
        <a:p>
          <a:endParaRPr lang="en-IN"/>
        </a:p>
      </dgm:t>
    </dgm:pt>
    <dgm:pt modelId="{108E8125-225B-4A3E-884A-64161088B489}" type="sibTrans" cxnId="{F9D9B6D3-7C5F-42A7-86D2-734C0C415C4F}">
      <dgm:prSet/>
      <dgm:spPr/>
      <dgm:t>
        <a:bodyPr/>
        <a:lstStyle/>
        <a:p>
          <a:endParaRPr lang="en-IN"/>
        </a:p>
      </dgm:t>
    </dgm:pt>
    <dgm:pt modelId="{576B257F-C665-4811-82CB-94BFB9CABE13}">
      <dgm:prSet phldrT="[Text]" phldr="0"/>
      <dgm:spPr/>
      <dgm:t>
        <a:bodyPr/>
        <a:lstStyle/>
        <a:p>
          <a:r>
            <a:rPr lang="en-US" dirty="0"/>
            <a:t>Comparative analysis</a:t>
          </a:r>
          <a:endParaRPr lang="en-IN" dirty="0"/>
        </a:p>
      </dgm:t>
    </dgm:pt>
    <dgm:pt modelId="{0CAA2209-EDBB-4DFC-AA9A-C1944BD7ECC1}" type="parTrans" cxnId="{8FFDFD53-39E3-40C8-AAB3-0DB90F31F0D8}">
      <dgm:prSet/>
      <dgm:spPr/>
      <dgm:t>
        <a:bodyPr/>
        <a:lstStyle/>
        <a:p>
          <a:endParaRPr lang="en-IN"/>
        </a:p>
      </dgm:t>
    </dgm:pt>
    <dgm:pt modelId="{D5C35ABA-ED14-4CAF-8AD9-BBDD3C78B2E3}" type="sibTrans" cxnId="{8FFDFD53-39E3-40C8-AAB3-0DB90F31F0D8}">
      <dgm:prSet/>
      <dgm:spPr/>
      <dgm:t>
        <a:bodyPr/>
        <a:lstStyle/>
        <a:p>
          <a:endParaRPr lang="en-IN"/>
        </a:p>
      </dgm:t>
    </dgm:pt>
    <dgm:pt modelId="{8A4BDE31-2187-4A6E-A640-D166F27BB9FD}">
      <dgm:prSet phldrT="[Text]" phldr="0"/>
      <dgm:spPr/>
      <dgm:t>
        <a:bodyPr/>
        <a:lstStyle/>
        <a:p>
          <a:r>
            <a:rPr lang="en-US" dirty="0"/>
            <a:t>Structural analysis</a:t>
          </a:r>
          <a:endParaRPr lang="en-IN" dirty="0"/>
        </a:p>
      </dgm:t>
    </dgm:pt>
    <dgm:pt modelId="{E6A6E246-74F5-4238-AADA-25C07BF8D098}" type="parTrans" cxnId="{62CC73A0-60DF-42DB-BA7F-33F828037359}">
      <dgm:prSet/>
      <dgm:spPr/>
      <dgm:t>
        <a:bodyPr/>
        <a:lstStyle/>
        <a:p>
          <a:endParaRPr lang="en-IN"/>
        </a:p>
      </dgm:t>
    </dgm:pt>
    <dgm:pt modelId="{7257EA3C-5DC2-49B9-9913-390FA70D2A77}" type="sibTrans" cxnId="{62CC73A0-60DF-42DB-BA7F-33F828037359}">
      <dgm:prSet/>
      <dgm:spPr/>
      <dgm:t>
        <a:bodyPr/>
        <a:lstStyle/>
        <a:p>
          <a:endParaRPr lang="en-IN"/>
        </a:p>
      </dgm:t>
    </dgm:pt>
    <dgm:pt modelId="{77D6418B-07E5-4793-A1CA-B23BEA1638AA}" type="pres">
      <dgm:prSet presAssocID="{BCC81DD0-06AA-4267-8A31-FDE7755BAF97}" presName="Name0" presStyleCnt="0">
        <dgm:presLayoutVars>
          <dgm:dir/>
          <dgm:resizeHandles val="exact"/>
        </dgm:presLayoutVars>
      </dgm:prSet>
      <dgm:spPr/>
    </dgm:pt>
    <dgm:pt modelId="{37170C21-DAA2-4849-9F73-CB9833545C8E}" type="pres">
      <dgm:prSet presAssocID="{EACEC87E-4146-4115-9022-D2751A46CFE2}" presName="node" presStyleLbl="node1" presStyleIdx="0" presStyleCnt="5">
        <dgm:presLayoutVars>
          <dgm:bulletEnabled val="1"/>
        </dgm:presLayoutVars>
      </dgm:prSet>
      <dgm:spPr/>
    </dgm:pt>
    <dgm:pt modelId="{3AB0B09B-DED7-4BF0-A046-3A39A7FE526F}" type="pres">
      <dgm:prSet presAssocID="{B0EAAFA0-149F-4BD4-98EF-A94EC17F2907}" presName="sibTrans" presStyleLbl="sibTrans2D1" presStyleIdx="0" presStyleCnt="4"/>
      <dgm:spPr/>
    </dgm:pt>
    <dgm:pt modelId="{5130AA55-DF7A-450A-B54E-8EFE80A385CD}" type="pres">
      <dgm:prSet presAssocID="{B0EAAFA0-149F-4BD4-98EF-A94EC17F2907}" presName="connectorText" presStyleLbl="sibTrans2D1" presStyleIdx="0" presStyleCnt="4"/>
      <dgm:spPr/>
    </dgm:pt>
    <dgm:pt modelId="{DE3BA3E0-4C75-4248-9E53-DAB6592635C3}" type="pres">
      <dgm:prSet presAssocID="{FA39F25B-CDDF-4DFD-8CE7-D735A214F4CB}" presName="node" presStyleLbl="node1" presStyleIdx="1" presStyleCnt="5">
        <dgm:presLayoutVars>
          <dgm:bulletEnabled val="1"/>
        </dgm:presLayoutVars>
      </dgm:prSet>
      <dgm:spPr/>
    </dgm:pt>
    <dgm:pt modelId="{B5B7D840-937D-44A5-8FF8-596506F283AB}" type="pres">
      <dgm:prSet presAssocID="{100134BD-5D6E-423F-85C7-3CC99DC56BB9}" presName="sibTrans" presStyleLbl="sibTrans2D1" presStyleIdx="1" presStyleCnt="4"/>
      <dgm:spPr/>
    </dgm:pt>
    <dgm:pt modelId="{CEA319E4-F7C6-47A9-8EB8-43A267B1C75F}" type="pres">
      <dgm:prSet presAssocID="{100134BD-5D6E-423F-85C7-3CC99DC56BB9}" presName="connectorText" presStyleLbl="sibTrans2D1" presStyleIdx="1" presStyleCnt="4"/>
      <dgm:spPr/>
    </dgm:pt>
    <dgm:pt modelId="{50C40819-8B98-4418-ACCC-59367256B231}" type="pres">
      <dgm:prSet presAssocID="{6BA27496-6885-4D0A-BE76-8ACF299AE313}" presName="node" presStyleLbl="node1" presStyleIdx="2" presStyleCnt="5">
        <dgm:presLayoutVars>
          <dgm:bulletEnabled val="1"/>
        </dgm:presLayoutVars>
      </dgm:prSet>
      <dgm:spPr/>
    </dgm:pt>
    <dgm:pt modelId="{EEE3808D-F5CF-4CCB-A22B-4EEF03E63B49}" type="pres">
      <dgm:prSet presAssocID="{108E8125-225B-4A3E-884A-64161088B489}" presName="sibTrans" presStyleLbl="sibTrans2D1" presStyleIdx="2" presStyleCnt="4"/>
      <dgm:spPr/>
    </dgm:pt>
    <dgm:pt modelId="{9E5856CF-9D7E-407A-9229-7BB193869831}" type="pres">
      <dgm:prSet presAssocID="{108E8125-225B-4A3E-884A-64161088B489}" presName="connectorText" presStyleLbl="sibTrans2D1" presStyleIdx="2" presStyleCnt="4"/>
      <dgm:spPr/>
    </dgm:pt>
    <dgm:pt modelId="{9C581315-0ADC-4A51-9C66-FAE2B01E9DD4}" type="pres">
      <dgm:prSet presAssocID="{576B257F-C665-4811-82CB-94BFB9CABE13}" presName="node" presStyleLbl="node1" presStyleIdx="3" presStyleCnt="5">
        <dgm:presLayoutVars>
          <dgm:bulletEnabled val="1"/>
        </dgm:presLayoutVars>
      </dgm:prSet>
      <dgm:spPr/>
    </dgm:pt>
    <dgm:pt modelId="{691F40BF-5002-469B-A9D8-27DD7B730943}" type="pres">
      <dgm:prSet presAssocID="{D5C35ABA-ED14-4CAF-8AD9-BBDD3C78B2E3}" presName="sibTrans" presStyleLbl="sibTrans2D1" presStyleIdx="3" presStyleCnt="4"/>
      <dgm:spPr/>
    </dgm:pt>
    <dgm:pt modelId="{2C7F0243-B23B-4815-BA31-A9E3846D0989}" type="pres">
      <dgm:prSet presAssocID="{D5C35ABA-ED14-4CAF-8AD9-BBDD3C78B2E3}" presName="connectorText" presStyleLbl="sibTrans2D1" presStyleIdx="3" presStyleCnt="4"/>
      <dgm:spPr/>
    </dgm:pt>
    <dgm:pt modelId="{45FE50BE-A5EF-4AB9-8AB3-7975F54DD322}" type="pres">
      <dgm:prSet presAssocID="{8A4BDE31-2187-4A6E-A640-D166F27BB9FD}" presName="node" presStyleLbl="node1" presStyleIdx="4" presStyleCnt="5">
        <dgm:presLayoutVars>
          <dgm:bulletEnabled val="1"/>
        </dgm:presLayoutVars>
      </dgm:prSet>
      <dgm:spPr/>
    </dgm:pt>
  </dgm:ptLst>
  <dgm:cxnLst>
    <dgm:cxn modelId="{4EE0F807-29FB-4BF2-87C6-9CE0650DFBED}" type="presOf" srcId="{6BA27496-6885-4D0A-BE76-8ACF299AE313}" destId="{50C40819-8B98-4418-ACCC-59367256B231}" srcOrd="0" destOrd="0" presId="urn:microsoft.com/office/officeart/2005/8/layout/process1"/>
    <dgm:cxn modelId="{76F63611-1899-425D-8A90-DA4BF7CA3DFC}" type="presOf" srcId="{B0EAAFA0-149F-4BD4-98EF-A94EC17F2907}" destId="{3AB0B09B-DED7-4BF0-A046-3A39A7FE526F}" srcOrd="0" destOrd="0" presId="urn:microsoft.com/office/officeart/2005/8/layout/process1"/>
    <dgm:cxn modelId="{D6C14611-F015-43D1-86D0-FBCDA05DBCEA}" type="presOf" srcId="{100134BD-5D6E-423F-85C7-3CC99DC56BB9}" destId="{B5B7D840-937D-44A5-8FF8-596506F283AB}" srcOrd="0" destOrd="0" presId="urn:microsoft.com/office/officeart/2005/8/layout/process1"/>
    <dgm:cxn modelId="{BD73BE22-3570-4C21-9861-EEE165417FEF}" type="presOf" srcId="{108E8125-225B-4A3E-884A-64161088B489}" destId="{EEE3808D-F5CF-4CCB-A22B-4EEF03E63B49}" srcOrd="0" destOrd="0" presId="urn:microsoft.com/office/officeart/2005/8/layout/process1"/>
    <dgm:cxn modelId="{29814842-62B0-4EFC-9FBD-C2C950C311A4}" type="presOf" srcId="{8A4BDE31-2187-4A6E-A640-D166F27BB9FD}" destId="{45FE50BE-A5EF-4AB9-8AB3-7975F54DD322}" srcOrd="0" destOrd="0" presId="urn:microsoft.com/office/officeart/2005/8/layout/process1"/>
    <dgm:cxn modelId="{13F1E842-AEBC-46F1-B3A8-018E6DB1BEAE}" srcId="{BCC81DD0-06AA-4267-8A31-FDE7755BAF97}" destId="{FA39F25B-CDDF-4DFD-8CE7-D735A214F4CB}" srcOrd="1" destOrd="0" parTransId="{B9D0184D-9CC5-4528-9E6F-2FBF2D6E7E78}" sibTransId="{100134BD-5D6E-423F-85C7-3CC99DC56BB9}"/>
    <dgm:cxn modelId="{6D564C49-E946-4D46-929D-C4F78E8DFA35}" type="presOf" srcId="{D5C35ABA-ED14-4CAF-8AD9-BBDD3C78B2E3}" destId="{691F40BF-5002-469B-A9D8-27DD7B730943}" srcOrd="0" destOrd="0" presId="urn:microsoft.com/office/officeart/2005/8/layout/process1"/>
    <dgm:cxn modelId="{94AF4B70-D669-4430-BA2B-9175F74B3024}" type="presOf" srcId="{100134BD-5D6E-423F-85C7-3CC99DC56BB9}" destId="{CEA319E4-F7C6-47A9-8EB8-43A267B1C75F}" srcOrd="1" destOrd="0" presId="urn:microsoft.com/office/officeart/2005/8/layout/process1"/>
    <dgm:cxn modelId="{8FFDFD53-39E3-40C8-AAB3-0DB90F31F0D8}" srcId="{BCC81DD0-06AA-4267-8A31-FDE7755BAF97}" destId="{576B257F-C665-4811-82CB-94BFB9CABE13}" srcOrd="3" destOrd="0" parTransId="{0CAA2209-EDBB-4DFC-AA9A-C1944BD7ECC1}" sibTransId="{D5C35ABA-ED14-4CAF-8AD9-BBDD3C78B2E3}"/>
    <dgm:cxn modelId="{BC6DD27B-FC4A-427C-8956-95E186771E63}" srcId="{BCC81DD0-06AA-4267-8A31-FDE7755BAF97}" destId="{EACEC87E-4146-4115-9022-D2751A46CFE2}" srcOrd="0" destOrd="0" parTransId="{E91DE2DF-8FEA-4EE9-BDD4-D4DE2A91126E}" sibTransId="{B0EAAFA0-149F-4BD4-98EF-A94EC17F2907}"/>
    <dgm:cxn modelId="{DB47A77F-82E8-4476-BE83-127AFE850CA5}" type="presOf" srcId="{EACEC87E-4146-4115-9022-D2751A46CFE2}" destId="{37170C21-DAA2-4849-9F73-CB9833545C8E}" srcOrd="0" destOrd="0" presId="urn:microsoft.com/office/officeart/2005/8/layout/process1"/>
    <dgm:cxn modelId="{AF83969D-2639-403F-BFA9-2D99E93262EA}" type="presOf" srcId="{BCC81DD0-06AA-4267-8A31-FDE7755BAF97}" destId="{77D6418B-07E5-4793-A1CA-B23BEA1638AA}" srcOrd="0" destOrd="0" presId="urn:microsoft.com/office/officeart/2005/8/layout/process1"/>
    <dgm:cxn modelId="{62CC73A0-60DF-42DB-BA7F-33F828037359}" srcId="{BCC81DD0-06AA-4267-8A31-FDE7755BAF97}" destId="{8A4BDE31-2187-4A6E-A640-D166F27BB9FD}" srcOrd="4" destOrd="0" parTransId="{E6A6E246-74F5-4238-AADA-25C07BF8D098}" sibTransId="{7257EA3C-5DC2-49B9-9913-390FA70D2A77}"/>
    <dgm:cxn modelId="{D632C9A8-66B9-4D6C-B1D0-63EECB45EFAE}" type="presOf" srcId="{576B257F-C665-4811-82CB-94BFB9CABE13}" destId="{9C581315-0ADC-4A51-9C66-FAE2B01E9DD4}" srcOrd="0" destOrd="0" presId="urn:microsoft.com/office/officeart/2005/8/layout/process1"/>
    <dgm:cxn modelId="{50D3E5BB-6075-459C-86BE-6826A0D7386D}" type="presOf" srcId="{108E8125-225B-4A3E-884A-64161088B489}" destId="{9E5856CF-9D7E-407A-9229-7BB193869831}" srcOrd="1" destOrd="0" presId="urn:microsoft.com/office/officeart/2005/8/layout/process1"/>
    <dgm:cxn modelId="{F9D9B6D3-7C5F-42A7-86D2-734C0C415C4F}" srcId="{BCC81DD0-06AA-4267-8A31-FDE7755BAF97}" destId="{6BA27496-6885-4D0A-BE76-8ACF299AE313}" srcOrd="2" destOrd="0" parTransId="{90EE37D5-9933-4DFE-8FF2-1FFF4A66BB76}" sibTransId="{108E8125-225B-4A3E-884A-64161088B489}"/>
    <dgm:cxn modelId="{E76021E3-977C-416B-A308-A0B9C1467BDF}" type="presOf" srcId="{B0EAAFA0-149F-4BD4-98EF-A94EC17F2907}" destId="{5130AA55-DF7A-450A-B54E-8EFE80A385CD}" srcOrd="1" destOrd="0" presId="urn:microsoft.com/office/officeart/2005/8/layout/process1"/>
    <dgm:cxn modelId="{1A331AEC-F1BC-49F1-B0D4-A49700AFA840}" type="presOf" srcId="{D5C35ABA-ED14-4CAF-8AD9-BBDD3C78B2E3}" destId="{2C7F0243-B23B-4815-BA31-A9E3846D0989}" srcOrd="1" destOrd="0" presId="urn:microsoft.com/office/officeart/2005/8/layout/process1"/>
    <dgm:cxn modelId="{D9ED7BEC-2430-4C5D-A4CC-C7757AFB1464}" type="presOf" srcId="{FA39F25B-CDDF-4DFD-8CE7-D735A214F4CB}" destId="{DE3BA3E0-4C75-4248-9E53-DAB6592635C3}" srcOrd="0" destOrd="0" presId="urn:microsoft.com/office/officeart/2005/8/layout/process1"/>
    <dgm:cxn modelId="{A52859C5-34E2-4AD4-9792-A23AC876540F}" type="presParOf" srcId="{77D6418B-07E5-4793-A1CA-B23BEA1638AA}" destId="{37170C21-DAA2-4849-9F73-CB9833545C8E}" srcOrd="0" destOrd="0" presId="urn:microsoft.com/office/officeart/2005/8/layout/process1"/>
    <dgm:cxn modelId="{01BA3A1A-8CCB-42DD-A45D-7E2BC161D426}" type="presParOf" srcId="{77D6418B-07E5-4793-A1CA-B23BEA1638AA}" destId="{3AB0B09B-DED7-4BF0-A046-3A39A7FE526F}" srcOrd="1" destOrd="0" presId="urn:microsoft.com/office/officeart/2005/8/layout/process1"/>
    <dgm:cxn modelId="{7DF95627-0BFB-4C6A-B52C-532ED306202E}" type="presParOf" srcId="{3AB0B09B-DED7-4BF0-A046-3A39A7FE526F}" destId="{5130AA55-DF7A-450A-B54E-8EFE80A385CD}" srcOrd="0" destOrd="0" presId="urn:microsoft.com/office/officeart/2005/8/layout/process1"/>
    <dgm:cxn modelId="{A3318B5B-874A-4265-BDC9-D5AED6723D96}" type="presParOf" srcId="{77D6418B-07E5-4793-A1CA-B23BEA1638AA}" destId="{DE3BA3E0-4C75-4248-9E53-DAB6592635C3}" srcOrd="2" destOrd="0" presId="urn:microsoft.com/office/officeart/2005/8/layout/process1"/>
    <dgm:cxn modelId="{FE792DC4-FBF2-4F0D-AC2B-6E04F96B7E37}" type="presParOf" srcId="{77D6418B-07E5-4793-A1CA-B23BEA1638AA}" destId="{B5B7D840-937D-44A5-8FF8-596506F283AB}" srcOrd="3" destOrd="0" presId="urn:microsoft.com/office/officeart/2005/8/layout/process1"/>
    <dgm:cxn modelId="{0F5A63BA-A82A-4659-B14E-3FBC905555AF}" type="presParOf" srcId="{B5B7D840-937D-44A5-8FF8-596506F283AB}" destId="{CEA319E4-F7C6-47A9-8EB8-43A267B1C75F}" srcOrd="0" destOrd="0" presId="urn:microsoft.com/office/officeart/2005/8/layout/process1"/>
    <dgm:cxn modelId="{A57CDF5A-A73A-4721-A499-4E8622F5B522}" type="presParOf" srcId="{77D6418B-07E5-4793-A1CA-B23BEA1638AA}" destId="{50C40819-8B98-4418-ACCC-59367256B231}" srcOrd="4" destOrd="0" presId="urn:microsoft.com/office/officeart/2005/8/layout/process1"/>
    <dgm:cxn modelId="{A0112B56-B87F-42AA-83C6-F91B8B2DAE34}" type="presParOf" srcId="{77D6418B-07E5-4793-A1CA-B23BEA1638AA}" destId="{EEE3808D-F5CF-4CCB-A22B-4EEF03E63B49}" srcOrd="5" destOrd="0" presId="urn:microsoft.com/office/officeart/2005/8/layout/process1"/>
    <dgm:cxn modelId="{274B8361-21F7-40E0-B3F9-9FA32709BC00}" type="presParOf" srcId="{EEE3808D-F5CF-4CCB-A22B-4EEF03E63B49}" destId="{9E5856CF-9D7E-407A-9229-7BB193869831}" srcOrd="0" destOrd="0" presId="urn:microsoft.com/office/officeart/2005/8/layout/process1"/>
    <dgm:cxn modelId="{CFD6C1EC-EEE2-4C9F-9F80-68E3D3ADD6B6}" type="presParOf" srcId="{77D6418B-07E5-4793-A1CA-B23BEA1638AA}" destId="{9C581315-0ADC-4A51-9C66-FAE2B01E9DD4}" srcOrd="6" destOrd="0" presId="urn:microsoft.com/office/officeart/2005/8/layout/process1"/>
    <dgm:cxn modelId="{6EE02060-F8F7-4938-A974-DA3A9E8597EE}" type="presParOf" srcId="{77D6418B-07E5-4793-A1CA-B23BEA1638AA}" destId="{691F40BF-5002-469B-A9D8-27DD7B730943}" srcOrd="7" destOrd="0" presId="urn:microsoft.com/office/officeart/2005/8/layout/process1"/>
    <dgm:cxn modelId="{0A331B0D-20F6-4657-A6C6-A520AD1200B1}" type="presParOf" srcId="{691F40BF-5002-469B-A9D8-27DD7B730943}" destId="{2C7F0243-B23B-4815-BA31-A9E3846D0989}" srcOrd="0" destOrd="0" presId="urn:microsoft.com/office/officeart/2005/8/layout/process1"/>
    <dgm:cxn modelId="{6FCA61A8-625D-452A-B37B-A69B5A727A6E}" type="presParOf" srcId="{77D6418B-07E5-4793-A1CA-B23BEA1638AA}" destId="{45FE50BE-A5EF-4AB9-8AB3-7975F54DD322}"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170C21-DAA2-4849-9F73-CB9833545C8E}">
      <dsp:nvSpPr>
        <dsp:cNvPr id="0" name=""/>
        <dsp:cNvSpPr/>
      </dsp:nvSpPr>
      <dsp:spPr>
        <a:xfrm>
          <a:off x="4617" y="1265667"/>
          <a:ext cx="1431298" cy="10198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Retrieve Variants from  </a:t>
          </a:r>
          <a:r>
            <a:rPr lang="en-IN" sz="1500" kern="1200" dirty="0" err="1"/>
            <a:t>ClinVIR</a:t>
          </a:r>
          <a:endParaRPr lang="en-IN" sz="1500" kern="1200" dirty="0"/>
        </a:p>
      </dsp:txBody>
      <dsp:txXfrm>
        <a:off x="34486" y="1295536"/>
        <a:ext cx="1371560" cy="960062"/>
      </dsp:txXfrm>
    </dsp:sp>
    <dsp:sp modelId="{3AB0B09B-DED7-4BF0-A046-3A39A7FE526F}">
      <dsp:nvSpPr>
        <dsp:cNvPr id="0" name=""/>
        <dsp:cNvSpPr/>
      </dsp:nvSpPr>
      <dsp:spPr>
        <a:xfrm>
          <a:off x="1579045" y="1598086"/>
          <a:ext cx="303435" cy="3549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1579045" y="1669078"/>
        <a:ext cx="212405" cy="212978"/>
      </dsp:txXfrm>
    </dsp:sp>
    <dsp:sp modelId="{DE3BA3E0-4C75-4248-9E53-DAB6592635C3}">
      <dsp:nvSpPr>
        <dsp:cNvPr id="0" name=""/>
        <dsp:cNvSpPr/>
      </dsp:nvSpPr>
      <dsp:spPr>
        <a:xfrm>
          <a:off x="2008435" y="1265667"/>
          <a:ext cx="1431298" cy="10198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err="1"/>
            <a:t>Pathogenticity</a:t>
          </a:r>
          <a:r>
            <a:rPr lang="en-US" sz="1500" kern="1200" dirty="0"/>
            <a:t> </a:t>
          </a:r>
          <a:r>
            <a:rPr lang="en-US" sz="1500" kern="1200" dirty="0" err="1"/>
            <a:t>predicition</a:t>
          </a:r>
          <a:r>
            <a:rPr lang="en-US" sz="1500" kern="1200" dirty="0"/>
            <a:t> (PolyPhen-2)</a:t>
          </a:r>
          <a:endParaRPr lang="en-IN" sz="1500" kern="1200" dirty="0"/>
        </a:p>
      </dsp:txBody>
      <dsp:txXfrm>
        <a:off x="2038304" y="1295536"/>
        <a:ext cx="1371560" cy="960062"/>
      </dsp:txXfrm>
    </dsp:sp>
    <dsp:sp modelId="{B5B7D840-937D-44A5-8FF8-596506F283AB}">
      <dsp:nvSpPr>
        <dsp:cNvPr id="0" name=""/>
        <dsp:cNvSpPr/>
      </dsp:nvSpPr>
      <dsp:spPr>
        <a:xfrm>
          <a:off x="3582864" y="1598086"/>
          <a:ext cx="303435" cy="3549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3582864" y="1669078"/>
        <a:ext cx="212405" cy="212978"/>
      </dsp:txXfrm>
    </dsp:sp>
    <dsp:sp modelId="{50C40819-8B98-4418-ACCC-59367256B231}">
      <dsp:nvSpPr>
        <dsp:cNvPr id="0" name=""/>
        <dsp:cNvSpPr/>
      </dsp:nvSpPr>
      <dsp:spPr>
        <a:xfrm>
          <a:off x="4012254" y="1265667"/>
          <a:ext cx="1431298" cy="10198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Variant assessment (mutation testing)</a:t>
          </a:r>
          <a:endParaRPr lang="en-IN" sz="1500" kern="1200" dirty="0"/>
        </a:p>
      </dsp:txBody>
      <dsp:txXfrm>
        <a:off x="4042123" y="1295536"/>
        <a:ext cx="1371560" cy="960062"/>
      </dsp:txXfrm>
    </dsp:sp>
    <dsp:sp modelId="{EEE3808D-F5CF-4CCB-A22B-4EEF03E63B49}">
      <dsp:nvSpPr>
        <dsp:cNvPr id="0" name=""/>
        <dsp:cNvSpPr/>
      </dsp:nvSpPr>
      <dsp:spPr>
        <a:xfrm>
          <a:off x="5586682" y="1598086"/>
          <a:ext cx="303435" cy="3549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5586682" y="1669078"/>
        <a:ext cx="212405" cy="212978"/>
      </dsp:txXfrm>
    </dsp:sp>
    <dsp:sp modelId="{9C581315-0ADC-4A51-9C66-FAE2B01E9DD4}">
      <dsp:nvSpPr>
        <dsp:cNvPr id="0" name=""/>
        <dsp:cNvSpPr/>
      </dsp:nvSpPr>
      <dsp:spPr>
        <a:xfrm>
          <a:off x="6016072" y="1265667"/>
          <a:ext cx="1431298" cy="10198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Comparative analysis</a:t>
          </a:r>
          <a:endParaRPr lang="en-IN" sz="1500" kern="1200" dirty="0"/>
        </a:p>
      </dsp:txBody>
      <dsp:txXfrm>
        <a:off x="6045941" y="1295536"/>
        <a:ext cx="1371560" cy="960062"/>
      </dsp:txXfrm>
    </dsp:sp>
    <dsp:sp modelId="{691F40BF-5002-469B-A9D8-27DD7B730943}">
      <dsp:nvSpPr>
        <dsp:cNvPr id="0" name=""/>
        <dsp:cNvSpPr/>
      </dsp:nvSpPr>
      <dsp:spPr>
        <a:xfrm>
          <a:off x="7590501" y="1598086"/>
          <a:ext cx="303435" cy="3549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7590501" y="1669078"/>
        <a:ext cx="212405" cy="212978"/>
      </dsp:txXfrm>
    </dsp:sp>
    <dsp:sp modelId="{45FE50BE-A5EF-4AB9-8AB3-7975F54DD322}">
      <dsp:nvSpPr>
        <dsp:cNvPr id="0" name=""/>
        <dsp:cNvSpPr/>
      </dsp:nvSpPr>
      <dsp:spPr>
        <a:xfrm>
          <a:off x="8019890" y="1265667"/>
          <a:ext cx="1431298" cy="10198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Structural analysis</a:t>
          </a:r>
          <a:endParaRPr lang="en-IN" sz="1500" kern="1200" dirty="0"/>
        </a:p>
      </dsp:txBody>
      <dsp:txXfrm>
        <a:off x="8049759" y="1295536"/>
        <a:ext cx="1371560" cy="96006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20491-41DB-2D5E-A73B-10FDC72AE7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DFD363-CD89-7BDA-467C-49F076A152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8D1AF5-BBB1-FD87-32AB-EE32CF722DCA}"/>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B8531A47-CCF1-1DA4-F1AF-CE8CD6A878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F58C2E-73C8-6A10-AE3C-75F6169B330B}"/>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4121467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D4F9-1F7C-A1F3-FA4B-0CE2861D20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0C9508-847A-E8AE-DCEA-ADF6EE11C5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5A1EDF-C717-0BA9-BA4D-F078D7B4813D}"/>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5B1BC4AF-29FC-0C82-3FB6-F4C382D91D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870A3D-A0AB-CF63-B42A-B9F4245E91EB}"/>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766697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C8F02-3920-159E-4BD9-89BBAC6CF3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00602D-E181-9BB5-5274-37E295546D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0523F5-497F-2368-BC95-DA9E5C1DDD69}"/>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61697872-2BD8-718C-16DF-2E2F26F27C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C6DC71-5937-E006-76DB-731FE3127C7A}"/>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3848901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4BB4B-2386-4C1F-7ACA-6FE5C81976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B0E7D9-97EF-E867-88F4-1AAE9652C4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F36D05F-0FE2-3AA3-2CC9-305E85548B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F7DD905-5B3C-BDAA-83D1-6C27EDCBBDBA}"/>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6" name="Footer Placeholder 5">
            <a:extLst>
              <a:ext uri="{FF2B5EF4-FFF2-40B4-BE49-F238E27FC236}">
                <a16:creationId xmlns:a16="http://schemas.microsoft.com/office/drawing/2014/main" id="{F806ACE0-E2B5-6145-132C-4AE1793DCF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128EA1-E616-5671-F8BE-7507E39EF5D9}"/>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2840874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E28B9-1700-4C2F-3FA7-137166322C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0C8A7D-CB0A-A02D-E957-B421ED9E46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15F47E-A33A-B73C-5DAE-BA3BEF65D7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16B77D6-D4E2-76C5-7701-8AC416746E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535DF9-7DCE-B697-7C82-D63FDF25E6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5C3952C-3BF3-7C84-D33B-87FF92EEB388}"/>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8" name="Footer Placeholder 7">
            <a:extLst>
              <a:ext uri="{FF2B5EF4-FFF2-40B4-BE49-F238E27FC236}">
                <a16:creationId xmlns:a16="http://schemas.microsoft.com/office/drawing/2014/main" id="{A8539B97-FDFC-8EC4-95BE-5E40C3703C8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1312E9-731F-688C-B11C-879323BB3E07}"/>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2548900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D4B41-E6B4-A17C-0E8A-79B86C822E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F07633-F0FF-B2C3-A54C-9FDF29CCA283}"/>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4" name="Footer Placeholder 3">
            <a:extLst>
              <a:ext uri="{FF2B5EF4-FFF2-40B4-BE49-F238E27FC236}">
                <a16:creationId xmlns:a16="http://schemas.microsoft.com/office/drawing/2014/main" id="{13F7E466-C178-C74A-AB38-668AAC2EA77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791E55-8514-DF54-7E9F-E4A501B38215}"/>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727295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CA7C-7D3D-ECA7-B6B0-23CDA30E2702}"/>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3" name="Footer Placeholder 2">
            <a:extLst>
              <a:ext uri="{FF2B5EF4-FFF2-40B4-BE49-F238E27FC236}">
                <a16:creationId xmlns:a16="http://schemas.microsoft.com/office/drawing/2014/main" id="{C68E7463-84FE-A65B-F830-9B322B7438F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2C82B99-553C-BE02-06A1-E192B6AA9D69}"/>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2568170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DF66E-6D98-1274-F644-B8B1F15014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4D152EB-3630-DD96-0B39-95E8FF9A96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CAE5C9-7466-E222-080C-4247067383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F824B-3C2B-9C98-88D4-1AF29CD7660F}"/>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6" name="Footer Placeholder 5">
            <a:extLst>
              <a:ext uri="{FF2B5EF4-FFF2-40B4-BE49-F238E27FC236}">
                <a16:creationId xmlns:a16="http://schemas.microsoft.com/office/drawing/2014/main" id="{DF52062F-D988-1CF5-FD75-A0DFB4D5E5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B18011-93FD-4B76-22BD-DEDBB0F69485}"/>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872479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643BE-A000-1EA2-04A9-8D7B146A82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370861-11D5-F66A-7FAA-971CA9A4AC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CC72AC-BB14-6C1F-E2DE-6831612E4A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29AAD-4943-15C3-5AAE-7BF9DA9BC25C}"/>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6" name="Footer Placeholder 5">
            <a:extLst>
              <a:ext uri="{FF2B5EF4-FFF2-40B4-BE49-F238E27FC236}">
                <a16:creationId xmlns:a16="http://schemas.microsoft.com/office/drawing/2014/main" id="{B12A99AA-7542-B449-A655-E15E7678C3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BB9F03-5B7B-C692-D126-A6EFE3EAF511}"/>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257062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CA2B8-6A48-24D9-58F2-775585F719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032623-95B1-6EA5-723F-C21C1D5E62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8792DF-B1B4-B02A-B656-CD00D7B49D63}"/>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7970F4DA-8960-C43E-9E3C-FB7ECBAC87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471675-5242-DAD9-41B1-DE4B648C057A}"/>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369288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52C87F-12A4-D695-013C-1E509E3F02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0C3A37-F136-9686-1C01-9D26ADFB08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B43931-7FF9-2F04-6DE5-50CC2169B6D5}"/>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01753B64-FECE-7137-36E1-D447A6FF45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199BD8-255C-453D-ED0A-28A84C4F9C7D}"/>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3388193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88D20C-1AAA-03B1-9C92-9C51C89CBD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0C2F84-FAFF-C233-C595-137825A089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F85944-4E92-D82E-7854-D016A21910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E3E78612-FDBA-852A-D7A3-158059722E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0E58E5A-1132-0E32-EEFA-A5A47BE25A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BC34B6-8AD0-4837-81B4-03C20B93BA18}" type="slidenum">
              <a:rPr lang="en-IN" smtClean="0"/>
              <a:t>‹#›</a:t>
            </a:fld>
            <a:endParaRPr lang="en-IN"/>
          </a:p>
        </p:txBody>
      </p:sp>
    </p:spTree>
    <p:extLst>
      <p:ext uri="{BB962C8B-B14F-4D97-AF65-F5344CB8AC3E}">
        <p14:creationId xmlns:p14="http://schemas.microsoft.com/office/powerpoint/2010/main" val="4118203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doi.org/10.1016/S1097-2765(00)80202-6" TargetMode="External"/><Relationship Id="rId3" Type="http://schemas.openxmlformats.org/officeDocument/2006/relationships/hyperlink" Target="https://www.rcsb.org/" TargetMode="External"/><Relationship Id="rId7" Type="http://schemas.openxmlformats.org/officeDocument/2006/relationships/hyperlink" Target="https://doi.org/10.1126/science.7545954" TargetMode="External"/><Relationship Id="rId2" Type="http://schemas.openxmlformats.org/officeDocument/2006/relationships/hyperlink" Target="https://www.ncbi.nlm.nih.gov/" TargetMode="External"/><Relationship Id="rId1" Type="http://schemas.openxmlformats.org/officeDocument/2006/relationships/slideLayout" Target="../slideLayouts/slideLayout2.xml"/><Relationship Id="rId6" Type="http://schemas.openxmlformats.org/officeDocument/2006/relationships/hyperlink" Target="https://doi.org/10.1126/science.aam7344" TargetMode="External"/><Relationship Id="rId5" Type="http://schemas.openxmlformats.org/officeDocument/2006/relationships/hyperlink" Target="https://doi.org/10.1074/jbc.C000881200" TargetMode="External"/><Relationship Id="rId4" Type="http://schemas.openxmlformats.org/officeDocument/2006/relationships/hyperlink" Target="https://doi.org/10.21203/rs.3.rs-1942605/v1" TargetMode="External"/><Relationship Id="rId9" Type="http://schemas.openxmlformats.org/officeDocument/2006/relationships/hyperlink" Target="https://doi.org/10.1016/j.cell.2020.12.02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696BF-9508-1EC6-8628-591A35E2AEFB}"/>
              </a:ext>
            </a:extLst>
          </p:cNvPr>
          <p:cNvSpPr>
            <a:spLocks noGrp="1"/>
          </p:cNvSpPr>
          <p:nvPr>
            <p:ph type="ctrTitle"/>
          </p:nvPr>
        </p:nvSpPr>
        <p:spPr>
          <a:xfrm>
            <a:off x="1459992" y="107379"/>
            <a:ext cx="9144000" cy="2387600"/>
          </a:xfrm>
        </p:spPr>
        <p:txBody>
          <a:bodyPr>
            <a:noAutofit/>
          </a:bodyPr>
          <a:lstStyle/>
          <a:p>
            <a:r>
              <a:rPr lang="en-IN" sz="4400" b="1" dirty="0"/>
              <a:t>Computational Stratification of BRCA1 Missense Variants: Defining Mechanisms of Pathogenicity for Precision Oncology</a:t>
            </a:r>
            <a:endParaRPr lang="en-IN" sz="4400" dirty="0"/>
          </a:p>
        </p:txBody>
      </p:sp>
      <p:sp>
        <p:nvSpPr>
          <p:cNvPr id="3" name="Subtitle 2">
            <a:extLst>
              <a:ext uri="{FF2B5EF4-FFF2-40B4-BE49-F238E27FC236}">
                <a16:creationId xmlns:a16="http://schemas.microsoft.com/office/drawing/2014/main" id="{F334B4DE-D577-2011-4D6A-64D223701E0C}"/>
              </a:ext>
            </a:extLst>
          </p:cNvPr>
          <p:cNvSpPr>
            <a:spLocks noGrp="1"/>
          </p:cNvSpPr>
          <p:nvPr>
            <p:ph type="subTitle" idx="1"/>
          </p:nvPr>
        </p:nvSpPr>
        <p:spPr>
          <a:xfrm>
            <a:off x="0" y="4525582"/>
            <a:ext cx="3209544" cy="2890202"/>
          </a:xfrm>
        </p:spPr>
        <p:txBody>
          <a:bodyPr>
            <a:normAutofit lnSpcReduction="10000"/>
          </a:bodyPr>
          <a:lstStyle/>
          <a:p>
            <a:r>
              <a:rPr lang="en-IN" dirty="0"/>
              <a:t>Submitted by: </a:t>
            </a:r>
            <a:r>
              <a:rPr lang="en-IN" b="1" dirty="0"/>
              <a:t>Ankesh Bashist</a:t>
            </a:r>
            <a:r>
              <a:rPr lang="en-IN" dirty="0"/>
              <a:t> </a:t>
            </a:r>
          </a:p>
          <a:p>
            <a:r>
              <a:rPr lang="en-IN" dirty="0"/>
              <a:t>(Roll No: 2418947)</a:t>
            </a:r>
          </a:p>
          <a:p>
            <a:r>
              <a:rPr lang="en-IN" dirty="0"/>
              <a:t>MSc. Biotechnology | Chandigarh Group of Colleges, </a:t>
            </a:r>
            <a:r>
              <a:rPr lang="en-IN" dirty="0" err="1"/>
              <a:t>Landran</a:t>
            </a:r>
            <a:endParaRPr lang="en-IN" dirty="0"/>
          </a:p>
          <a:p>
            <a:br>
              <a:rPr lang="en-IN" dirty="0"/>
            </a:br>
            <a:endParaRPr lang="en-IN" dirty="0"/>
          </a:p>
          <a:p>
            <a:endParaRPr lang="en-IN" dirty="0"/>
          </a:p>
        </p:txBody>
      </p:sp>
      <p:sp>
        <p:nvSpPr>
          <p:cNvPr id="4" name="Subtitle 2">
            <a:extLst>
              <a:ext uri="{FF2B5EF4-FFF2-40B4-BE49-F238E27FC236}">
                <a16:creationId xmlns:a16="http://schemas.microsoft.com/office/drawing/2014/main" id="{2317186D-DCBB-D1DF-DF03-A4838BE3275D}"/>
              </a:ext>
            </a:extLst>
          </p:cNvPr>
          <p:cNvSpPr txBox="1">
            <a:spLocks/>
          </p:cNvSpPr>
          <p:nvPr/>
        </p:nvSpPr>
        <p:spPr>
          <a:xfrm>
            <a:off x="8982458" y="4999497"/>
            <a:ext cx="2957465" cy="1201848"/>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3200" dirty="0"/>
              <a:t>Submitted to: </a:t>
            </a:r>
            <a:r>
              <a:rPr lang="en-IN" sz="3200" b="1" dirty="0" err="1"/>
              <a:t>Bhairiv</a:t>
            </a:r>
            <a:r>
              <a:rPr lang="en-IN" sz="3200" b="1" dirty="0"/>
              <a:t> Parshad</a:t>
            </a:r>
          </a:p>
          <a:p>
            <a:endParaRPr lang="en-IN" dirty="0"/>
          </a:p>
          <a:p>
            <a:br>
              <a:rPr lang="en-IN" dirty="0"/>
            </a:br>
            <a:endParaRPr lang="en-IN" dirty="0"/>
          </a:p>
        </p:txBody>
      </p:sp>
      <p:pic>
        <p:nvPicPr>
          <p:cNvPr id="6" name="Picture 5">
            <a:extLst>
              <a:ext uri="{FF2B5EF4-FFF2-40B4-BE49-F238E27FC236}">
                <a16:creationId xmlns:a16="http://schemas.microsoft.com/office/drawing/2014/main" id="{DBD70EE5-CAC9-007A-D7F7-05F6C69CE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4125" y="2869501"/>
            <a:ext cx="2143125" cy="2143125"/>
          </a:xfrm>
          <a:prstGeom prst="rect">
            <a:avLst/>
          </a:prstGeom>
        </p:spPr>
      </p:pic>
    </p:spTree>
    <p:extLst>
      <p:ext uri="{BB962C8B-B14F-4D97-AF65-F5344CB8AC3E}">
        <p14:creationId xmlns:p14="http://schemas.microsoft.com/office/powerpoint/2010/main" val="4160252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3250-29CF-6548-C721-58368D887A85}"/>
              </a:ext>
            </a:extLst>
          </p:cNvPr>
          <p:cNvSpPr>
            <a:spLocks noGrp="1"/>
          </p:cNvSpPr>
          <p:nvPr>
            <p:ph type="title"/>
          </p:nvPr>
        </p:nvSpPr>
        <p:spPr>
          <a:xfrm>
            <a:off x="838200" y="365125"/>
            <a:ext cx="10515600" cy="1637411"/>
          </a:xfrm>
        </p:spPr>
        <p:txBody>
          <a:bodyPr/>
          <a:lstStyle/>
          <a:p>
            <a:r>
              <a:rPr lang="en-IN" b="1" dirty="0"/>
              <a:t>Introduction</a:t>
            </a:r>
            <a:br>
              <a:rPr lang="en-IN" b="1" dirty="0"/>
            </a:br>
            <a:endParaRPr lang="en-IN" dirty="0"/>
          </a:p>
        </p:txBody>
      </p:sp>
      <p:sp>
        <p:nvSpPr>
          <p:cNvPr id="3" name="Content Placeholder 2">
            <a:extLst>
              <a:ext uri="{FF2B5EF4-FFF2-40B4-BE49-F238E27FC236}">
                <a16:creationId xmlns:a16="http://schemas.microsoft.com/office/drawing/2014/main" id="{9DF88A9B-DB37-3ADE-403B-2EE3D17A8099}"/>
              </a:ext>
            </a:extLst>
          </p:cNvPr>
          <p:cNvSpPr>
            <a:spLocks noGrp="1"/>
          </p:cNvSpPr>
          <p:nvPr>
            <p:ph sz="half" idx="1"/>
          </p:nvPr>
        </p:nvSpPr>
        <p:spPr>
          <a:xfrm>
            <a:off x="838200" y="1563624"/>
            <a:ext cx="5181600" cy="4613339"/>
          </a:xfrm>
        </p:spPr>
        <p:txBody>
          <a:bodyPr>
            <a:normAutofit/>
          </a:bodyPr>
          <a:lstStyle/>
          <a:p>
            <a:r>
              <a:rPr lang="en-IN" sz="2000" dirty="0"/>
              <a:t>Breast-Ovarian cancer</a:t>
            </a:r>
          </a:p>
          <a:p>
            <a:r>
              <a:rPr lang="en-IN" sz="1600" b="1" dirty="0"/>
              <a:t>Breast Cancer </a:t>
            </a:r>
          </a:p>
          <a:p>
            <a:r>
              <a:rPr lang="en-IN" sz="1600" dirty="0"/>
              <a:t>Breast cancer is one of the most common cancers affecting women worldwide. It develops when breast cells grow uncontrollably and form malignant </a:t>
            </a:r>
            <a:r>
              <a:rPr lang="en-IN" sz="1600" dirty="0" err="1"/>
              <a:t>tumors</a:t>
            </a:r>
            <a:r>
              <a:rPr lang="en-IN" sz="1600" dirty="0"/>
              <a:t>. Mutations in </a:t>
            </a:r>
            <a:r>
              <a:rPr lang="en-IN" sz="1600" b="1" dirty="0"/>
              <a:t>BRCA1</a:t>
            </a:r>
            <a:r>
              <a:rPr lang="en-IN" sz="1600" dirty="0"/>
              <a:t> and </a:t>
            </a:r>
            <a:r>
              <a:rPr lang="en-IN" sz="1600" b="1" dirty="0"/>
              <a:t>BRCA2</a:t>
            </a:r>
            <a:r>
              <a:rPr lang="en-IN" sz="1600" dirty="0"/>
              <a:t> are major genetic risk factors</a:t>
            </a:r>
          </a:p>
          <a:p>
            <a:r>
              <a:rPr lang="en-IN" sz="1600" b="1" dirty="0"/>
              <a:t>Ovarian cancer</a:t>
            </a:r>
          </a:p>
          <a:p>
            <a:r>
              <a:rPr lang="en-IN" sz="1600" dirty="0"/>
              <a:t>Ovarian cancer is one of the most lethal gynaecological cancers worldwide. It originates from abnormal growth of cells in the ovaries. Early-stage ovarian cancer often shows few or no symptoms, making diagnosis difficult. Genetic factors play a significant role in disease development. Mutations in the </a:t>
            </a:r>
            <a:r>
              <a:rPr lang="en-IN" sz="1600" b="1" dirty="0"/>
              <a:t>BRCA1</a:t>
            </a:r>
            <a:r>
              <a:rPr lang="en-IN" sz="1600" dirty="0"/>
              <a:t> and </a:t>
            </a:r>
            <a:r>
              <a:rPr lang="en-IN" sz="1600" b="1" dirty="0"/>
              <a:t>BRCA2</a:t>
            </a:r>
            <a:r>
              <a:rPr lang="en-IN" sz="1600" dirty="0"/>
              <a:t> genes significantly increase ovarian cancer risk.</a:t>
            </a:r>
          </a:p>
        </p:txBody>
      </p:sp>
      <p:sp>
        <p:nvSpPr>
          <p:cNvPr id="4" name="Content Placeholder 3">
            <a:extLst>
              <a:ext uri="{FF2B5EF4-FFF2-40B4-BE49-F238E27FC236}">
                <a16:creationId xmlns:a16="http://schemas.microsoft.com/office/drawing/2014/main" id="{FC8B1B03-29DB-D289-4DC0-F5827495F2D6}"/>
              </a:ext>
            </a:extLst>
          </p:cNvPr>
          <p:cNvSpPr>
            <a:spLocks noGrp="1"/>
          </p:cNvSpPr>
          <p:nvPr>
            <p:ph sz="half" idx="2"/>
          </p:nvPr>
        </p:nvSpPr>
        <p:spPr>
          <a:xfrm>
            <a:off x="6172200" y="1563624"/>
            <a:ext cx="5181600" cy="4613339"/>
          </a:xfrm>
        </p:spPr>
        <p:txBody>
          <a:bodyPr>
            <a:normAutofit/>
          </a:bodyPr>
          <a:lstStyle/>
          <a:p>
            <a:r>
              <a:rPr lang="en-IN" b="1" dirty="0"/>
              <a:t>BRCA1 Gene</a:t>
            </a:r>
          </a:p>
          <a:p>
            <a:r>
              <a:rPr lang="en-IN" sz="1700" dirty="0"/>
              <a:t>Located on chromosome 17q21 in humans. </a:t>
            </a:r>
          </a:p>
          <a:p>
            <a:r>
              <a:rPr lang="en-IN" sz="1700" dirty="0"/>
              <a:t>Encodes a 1863-amino-acid </a:t>
            </a:r>
            <a:r>
              <a:rPr lang="en-IN" sz="1700" dirty="0" err="1"/>
              <a:t>tumor</a:t>
            </a:r>
            <a:r>
              <a:rPr lang="en-IN" sz="1700" dirty="0"/>
              <a:t> suppressor protein. Plays a crucial role in the repair of DNA double-strand breaks through homologous recombination. Maintains genomic stability and prevents accumulation of mutations. Contains two important functional domains: </a:t>
            </a:r>
          </a:p>
          <a:p>
            <a:pPr lvl="1"/>
            <a:r>
              <a:rPr lang="en-IN" sz="1700" dirty="0"/>
              <a:t>RING domain (protein-protein interactions and ubiquitin ligase activity) </a:t>
            </a:r>
          </a:p>
          <a:p>
            <a:pPr lvl="1"/>
            <a:r>
              <a:rPr lang="en-IN" sz="1700" dirty="0"/>
              <a:t>BRCT domain (DNA damage response and repair </a:t>
            </a:r>
            <a:r>
              <a:rPr lang="en-IN" sz="1700" dirty="0" err="1"/>
              <a:t>signaling</a:t>
            </a:r>
            <a:r>
              <a:rPr lang="en-IN" sz="1700" dirty="0"/>
              <a:t> ) </a:t>
            </a:r>
          </a:p>
          <a:p>
            <a:r>
              <a:rPr lang="en-IN" sz="1700" dirty="0"/>
              <a:t>Pathogenic BRCA1 mutations increase the risk of breast and ovarian cancer.</a:t>
            </a:r>
          </a:p>
          <a:p>
            <a:endParaRPr lang="en-IN" dirty="0"/>
          </a:p>
        </p:txBody>
      </p:sp>
    </p:spTree>
    <p:extLst>
      <p:ext uri="{BB962C8B-B14F-4D97-AF65-F5344CB8AC3E}">
        <p14:creationId xmlns:p14="http://schemas.microsoft.com/office/powerpoint/2010/main" val="862209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7BDD-99A2-D566-9817-23B4F1EBB55C}"/>
              </a:ext>
            </a:extLst>
          </p:cNvPr>
          <p:cNvSpPr>
            <a:spLocks noGrp="1"/>
          </p:cNvSpPr>
          <p:nvPr>
            <p:ph type="title"/>
          </p:nvPr>
        </p:nvSpPr>
        <p:spPr>
          <a:xfrm>
            <a:off x="838200" y="365125"/>
            <a:ext cx="10515600" cy="878459"/>
          </a:xfrm>
        </p:spPr>
        <p:txBody>
          <a:bodyPr>
            <a:normAutofit/>
          </a:bodyPr>
          <a:lstStyle/>
          <a:p>
            <a:r>
              <a:rPr lang="en-IN" sz="2400" dirty="0"/>
              <a:t>Structure and Functional Domains of BRCA1</a:t>
            </a:r>
          </a:p>
        </p:txBody>
      </p:sp>
      <p:sp>
        <p:nvSpPr>
          <p:cNvPr id="3" name="Content Placeholder 2">
            <a:extLst>
              <a:ext uri="{FF2B5EF4-FFF2-40B4-BE49-F238E27FC236}">
                <a16:creationId xmlns:a16="http://schemas.microsoft.com/office/drawing/2014/main" id="{32309AF5-0ACB-8EDD-5031-2B094BCBE2FB}"/>
              </a:ext>
            </a:extLst>
          </p:cNvPr>
          <p:cNvSpPr>
            <a:spLocks noGrp="1"/>
          </p:cNvSpPr>
          <p:nvPr>
            <p:ph sz="half" idx="1"/>
          </p:nvPr>
        </p:nvSpPr>
        <p:spPr>
          <a:xfrm>
            <a:off x="838200" y="1243584"/>
            <a:ext cx="6266688" cy="4933379"/>
          </a:xfrm>
        </p:spPr>
        <p:txBody>
          <a:bodyPr>
            <a:normAutofit fontScale="55000" lnSpcReduction="20000"/>
          </a:bodyPr>
          <a:lstStyle/>
          <a:p>
            <a:pPr marL="0" indent="0">
              <a:buNone/>
            </a:pPr>
            <a:r>
              <a:rPr lang="en-IN" sz="2900" b="1" dirty="0"/>
              <a:t>RING Domain</a:t>
            </a:r>
          </a:p>
          <a:p>
            <a:r>
              <a:rPr lang="en-IN" sz="2500" dirty="0"/>
              <a:t>Located at the N-terminal region (aa 24–65). </a:t>
            </a:r>
          </a:p>
          <a:p>
            <a:r>
              <a:rPr lang="en-IN" sz="2500" dirty="0"/>
              <a:t>Forms a heterodimer with BARD1. </a:t>
            </a:r>
          </a:p>
          <a:p>
            <a:r>
              <a:rPr lang="en-IN" sz="2500" dirty="0"/>
              <a:t>Responsible for protein–protein interactions. </a:t>
            </a:r>
          </a:p>
          <a:p>
            <a:r>
              <a:rPr lang="en-IN" sz="2500" dirty="0"/>
              <a:t>Exhibits E3 ubiquitin ligase activity. </a:t>
            </a:r>
          </a:p>
          <a:p>
            <a:r>
              <a:rPr lang="en-IN" sz="2500" dirty="0"/>
              <a:t>Essential for BRCA1 </a:t>
            </a:r>
            <a:r>
              <a:rPr lang="en-IN" sz="2500" dirty="0" err="1"/>
              <a:t>tumor</a:t>
            </a:r>
            <a:r>
              <a:rPr lang="en-IN" sz="2500" dirty="0"/>
              <a:t> suppressor function. </a:t>
            </a:r>
          </a:p>
          <a:p>
            <a:r>
              <a:rPr lang="en-IN" sz="2900" b="1" dirty="0"/>
              <a:t>BRCT Domain</a:t>
            </a:r>
          </a:p>
          <a:p>
            <a:r>
              <a:rPr lang="en-IN" sz="2500" dirty="0"/>
              <a:t>Located at the C-terminal region (aa 1646–1855). </a:t>
            </a:r>
          </a:p>
          <a:p>
            <a:r>
              <a:rPr lang="en-IN" sz="2500" dirty="0"/>
              <a:t>Recognizes phosphorylated proteins. </a:t>
            </a:r>
          </a:p>
          <a:p>
            <a:r>
              <a:rPr lang="en-IN" sz="2500" dirty="0"/>
              <a:t>Involved in DNA damage signalling. </a:t>
            </a:r>
          </a:p>
          <a:p>
            <a:r>
              <a:rPr lang="en-IN" sz="2500" dirty="0"/>
              <a:t>Regulates cell-cycle checkpoints and critical for DNA repair through homologous recombination. </a:t>
            </a:r>
          </a:p>
          <a:p>
            <a:r>
              <a:rPr lang="en-IN" sz="2900" b="1" dirty="0"/>
              <a:t>Functions of BRCA1</a:t>
            </a:r>
          </a:p>
          <a:p>
            <a:r>
              <a:rPr lang="en-IN" sz="2500" dirty="0"/>
              <a:t>Repairs DNA double-strand breaks and maintains genomic stability. </a:t>
            </a:r>
          </a:p>
          <a:p>
            <a:r>
              <a:rPr lang="en-IN" sz="2500" dirty="0"/>
              <a:t>Regulates cell-cycle progression. </a:t>
            </a:r>
          </a:p>
          <a:p>
            <a:r>
              <a:rPr lang="en-IN" sz="2500" dirty="0"/>
              <a:t>Participates in transcriptional regulation. </a:t>
            </a:r>
          </a:p>
          <a:p>
            <a:r>
              <a:rPr lang="en-IN" sz="2500" dirty="0"/>
              <a:t>Prevents accumulation of cancer-causing mutations.</a:t>
            </a:r>
          </a:p>
          <a:p>
            <a:pPr marL="0" indent="0">
              <a:buNone/>
            </a:pPr>
            <a:endParaRPr lang="en-IN" dirty="0"/>
          </a:p>
        </p:txBody>
      </p:sp>
      <p:pic>
        <p:nvPicPr>
          <p:cNvPr id="6" name="Content Placeholder 5">
            <a:extLst>
              <a:ext uri="{FF2B5EF4-FFF2-40B4-BE49-F238E27FC236}">
                <a16:creationId xmlns:a16="http://schemas.microsoft.com/office/drawing/2014/main" id="{48448E80-7A34-B8F4-65DB-140ACBFEFFD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370763" y="2594173"/>
            <a:ext cx="3983037" cy="2231630"/>
          </a:xfrm>
          <a:prstGeom prst="rect">
            <a:avLst/>
          </a:prstGeom>
        </p:spPr>
      </p:pic>
    </p:spTree>
    <p:extLst>
      <p:ext uri="{BB962C8B-B14F-4D97-AF65-F5344CB8AC3E}">
        <p14:creationId xmlns:p14="http://schemas.microsoft.com/office/powerpoint/2010/main" val="2937109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B348A-654E-5070-A086-A02753042AD8}"/>
              </a:ext>
            </a:extLst>
          </p:cNvPr>
          <p:cNvSpPr>
            <a:spLocks noGrp="1"/>
          </p:cNvSpPr>
          <p:nvPr>
            <p:ph type="title"/>
          </p:nvPr>
        </p:nvSpPr>
        <p:spPr/>
        <p:txBody>
          <a:bodyPr/>
          <a:lstStyle/>
          <a:p>
            <a:r>
              <a:rPr lang="en-IN" dirty="0"/>
              <a:t>Research Gap</a:t>
            </a:r>
          </a:p>
        </p:txBody>
      </p:sp>
      <p:sp>
        <p:nvSpPr>
          <p:cNvPr id="3" name="Content Placeholder 2">
            <a:extLst>
              <a:ext uri="{FF2B5EF4-FFF2-40B4-BE49-F238E27FC236}">
                <a16:creationId xmlns:a16="http://schemas.microsoft.com/office/drawing/2014/main" id="{8D1969A4-9E8A-CCB1-5FDC-13870615B089}"/>
              </a:ext>
            </a:extLst>
          </p:cNvPr>
          <p:cNvSpPr>
            <a:spLocks noGrp="1"/>
          </p:cNvSpPr>
          <p:nvPr>
            <p:ph sz="half" idx="1"/>
          </p:nvPr>
        </p:nvSpPr>
        <p:spPr/>
        <p:txBody>
          <a:bodyPr>
            <a:normAutofit/>
          </a:bodyPr>
          <a:lstStyle/>
          <a:p>
            <a:r>
              <a:rPr lang="en-IN" sz="1800"/>
              <a:t>Although numerous BRCA1 variants have been reported in public databases, the functional significance of many missense mutations remains incompletely understood. Experimental validation of every variant is costly and time-consuming. Furthermore, comparative analyses integrating multiple bioinformatics prediction tools and structural assessment are limited for several BRCA1 variants. Therefore, there is a need for computational studies that evaluate the potential pathogenicity and structural consequences of BRCA1 mutations to prioritize variants for future experimental investigation</a:t>
            </a:r>
            <a:r>
              <a:rPr lang="en-IN" sz="1400"/>
              <a:t>.</a:t>
            </a:r>
          </a:p>
          <a:p>
            <a:endParaRPr lang="en-IN" sz="1400" dirty="0"/>
          </a:p>
        </p:txBody>
      </p:sp>
      <p:sp>
        <p:nvSpPr>
          <p:cNvPr id="4" name="Content Placeholder 3">
            <a:extLst>
              <a:ext uri="{FF2B5EF4-FFF2-40B4-BE49-F238E27FC236}">
                <a16:creationId xmlns:a16="http://schemas.microsoft.com/office/drawing/2014/main" id="{62A02977-F380-69E0-BE12-2EEC84E0087E}"/>
              </a:ext>
            </a:extLst>
          </p:cNvPr>
          <p:cNvSpPr>
            <a:spLocks noGrp="1"/>
          </p:cNvSpPr>
          <p:nvPr>
            <p:ph sz="half" idx="2"/>
          </p:nvPr>
        </p:nvSpPr>
        <p:spPr>
          <a:xfrm>
            <a:off x="7031736" y="1825625"/>
            <a:ext cx="4322064" cy="4351338"/>
          </a:xfrm>
        </p:spPr>
        <p:txBody>
          <a:bodyPr/>
          <a:lstStyle/>
          <a:p>
            <a:r>
              <a:rPr lang="en-IN"/>
              <a:t>BRCA1 Variants</a:t>
            </a:r>
          </a:p>
          <a:p>
            <a:pPr marL="0" indent="0">
              <a:buNone/>
            </a:pPr>
            <a:r>
              <a:rPr lang="en-IN"/>
              <a:t>     ↓</a:t>
            </a:r>
          </a:p>
          <a:p>
            <a:r>
              <a:rPr lang="en-IN"/>
              <a:t>Unknown Significance</a:t>
            </a:r>
          </a:p>
          <a:p>
            <a:pPr marL="0" indent="0">
              <a:buNone/>
            </a:pPr>
            <a:r>
              <a:rPr lang="en-IN"/>
              <a:t>      ↓</a:t>
            </a:r>
          </a:p>
          <a:p>
            <a:r>
              <a:rPr lang="en-IN"/>
              <a:t>Bioinformatics Analysis</a:t>
            </a:r>
          </a:p>
          <a:p>
            <a:pPr marL="0" indent="0">
              <a:buNone/>
            </a:pPr>
            <a:r>
              <a:rPr lang="en-IN"/>
              <a:t>      ↓</a:t>
            </a:r>
          </a:p>
          <a:p>
            <a:r>
              <a:rPr lang="en-IN"/>
              <a:t>Potentially Pathogenic Variants</a:t>
            </a:r>
            <a:endParaRPr lang="en-IN" dirty="0"/>
          </a:p>
        </p:txBody>
      </p:sp>
    </p:spTree>
    <p:extLst>
      <p:ext uri="{BB962C8B-B14F-4D97-AF65-F5344CB8AC3E}">
        <p14:creationId xmlns:p14="http://schemas.microsoft.com/office/powerpoint/2010/main" val="3786142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72A7-D729-6868-A875-7DCA15E7909A}"/>
              </a:ext>
            </a:extLst>
          </p:cNvPr>
          <p:cNvSpPr>
            <a:spLocks noGrp="1"/>
          </p:cNvSpPr>
          <p:nvPr>
            <p:ph type="title"/>
          </p:nvPr>
        </p:nvSpPr>
        <p:spPr>
          <a:xfrm>
            <a:off x="218090" y="165429"/>
            <a:ext cx="10515600" cy="1325563"/>
          </a:xfrm>
        </p:spPr>
        <p:txBody>
          <a:bodyPr/>
          <a:lstStyle/>
          <a:p>
            <a:r>
              <a:rPr lang="en-IN" dirty="0"/>
              <a:t>Objectives </a:t>
            </a:r>
          </a:p>
        </p:txBody>
      </p:sp>
      <p:sp>
        <p:nvSpPr>
          <p:cNvPr id="3" name="Content Placeholder 2">
            <a:extLst>
              <a:ext uri="{FF2B5EF4-FFF2-40B4-BE49-F238E27FC236}">
                <a16:creationId xmlns:a16="http://schemas.microsoft.com/office/drawing/2014/main" id="{3EB5AADC-8727-65D9-DFCF-0090F05BC9E7}"/>
              </a:ext>
            </a:extLst>
          </p:cNvPr>
          <p:cNvSpPr>
            <a:spLocks noGrp="1"/>
          </p:cNvSpPr>
          <p:nvPr>
            <p:ph idx="1"/>
          </p:nvPr>
        </p:nvSpPr>
        <p:spPr>
          <a:xfrm>
            <a:off x="39414" y="0"/>
            <a:ext cx="10515600" cy="4351338"/>
          </a:xfrm>
        </p:spPr>
        <p:txBody>
          <a:bodyPr/>
          <a:lstStyle/>
          <a:p>
            <a:endParaRPr lang="en-US" dirty="0"/>
          </a:p>
          <a:p>
            <a:endParaRPr lang="en-US" dirty="0"/>
          </a:p>
          <a:p>
            <a:r>
              <a:rPr lang="en-IN" sz="1200" dirty="0"/>
              <a:t>.</a:t>
            </a:r>
            <a:endParaRPr lang="en-US" sz="1200" dirty="0"/>
          </a:p>
        </p:txBody>
      </p:sp>
      <p:graphicFrame>
        <p:nvGraphicFramePr>
          <p:cNvPr id="28" name="Diagram 27">
            <a:extLst>
              <a:ext uri="{FF2B5EF4-FFF2-40B4-BE49-F238E27FC236}">
                <a16:creationId xmlns:a16="http://schemas.microsoft.com/office/drawing/2014/main" id="{F259ED33-83D3-95E0-4233-B9951251A1B0}"/>
              </a:ext>
            </a:extLst>
          </p:cNvPr>
          <p:cNvGraphicFramePr/>
          <p:nvPr>
            <p:extLst>
              <p:ext uri="{D42A27DB-BD31-4B8C-83A1-F6EECF244321}">
                <p14:modId xmlns:p14="http://schemas.microsoft.com/office/powerpoint/2010/main" val="4215868583"/>
              </p:ext>
            </p:extLst>
          </p:nvPr>
        </p:nvGraphicFramePr>
        <p:xfrm>
          <a:off x="218090" y="965632"/>
          <a:ext cx="9455807" cy="35511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0" name="TextBox 29">
            <a:extLst>
              <a:ext uri="{FF2B5EF4-FFF2-40B4-BE49-F238E27FC236}">
                <a16:creationId xmlns:a16="http://schemas.microsoft.com/office/drawing/2014/main" id="{0C22E681-FA7C-0800-2F97-683B6BA67079}"/>
              </a:ext>
            </a:extLst>
          </p:cNvPr>
          <p:cNvSpPr txBox="1"/>
          <p:nvPr/>
        </p:nvSpPr>
        <p:spPr>
          <a:xfrm>
            <a:off x="218090" y="3804745"/>
            <a:ext cx="9455807" cy="2031325"/>
          </a:xfrm>
          <a:prstGeom prst="rect">
            <a:avLst/>
          </a:prstGeom>
          <a:noFill/>
        </p:spPr>
        <p:txBody>
          <a:bodyPr wrap="square" rtlCol="0">
            <a:spAutoFit/>
          </a:bodyPr>
          <a:lstStyle/>
          <a:p>
            <a:r>
              <a:rPr lang="en-IN" dirty="0"/>
              <a:t>In this study, selected BRCA1 variants linked to breast cancer were collected from the </a:t>
            </a:r>
            <a:r>
              <a:rPr lang="en-IN" dirty="0" err="1"/>
              <a:t>ClinVar</a:t>
            </a:r>
            <a:r>
              <a:rPr lang="en-IN" dirty="0"/>
              <a:t> database. These variants were </a:t>
            </a:r>
            <a:r>
              <a:rPr lang="en-IN" dirty="0" err="1"/>
              <a:t>analyzed</a:t>
            </a:r>
            <a:r>
              <a:rPr lang="en-IN" dirty="0"/>
              <a:t> using PolyPhen-2 and </a:t>
            </a:r>
            <a:r>
              <a:rPr lang="en-IN" dirty="0" err="1"/>
              <a:t>MutationTaster</a:t>
            </a:r>
            <a:r>
              <a:rPr lang="en-IN" dirty="0"/>
              <a:t> to determine whether they could affect the normal function of the BRCA1 protein. Structural analysis was also performed to understand how specific mutations may alter protein stability and structure. The results from different tools were then compared to identify variants that are most likely to be harmful.</a:t>
            </a:r>
          </a:p>
          <a:p>
            <a:endParaRPr lang="en-IN" dirty="0"/>
          </a:p>
        </p:txBody>
      </p:sp>
    </p:spTree>
    <p:extLst>
      <p:ext uri="{BB962C8B-B14F-4D97-AF65-F5344CB8AC3E}">
        <p14:creationId xmlns:p14="http://schemas.microsoft.com/office/powerpoint/2010/main" val="3921629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F26A74-BEE7-A831-49AA-08C03D7439C1}"/>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PolyPhen-2 &amp; Mutation testing scores</a:t>
            </a:r>
            <a:endParaRPr lang="en-IN" sz="4000" dirty="0">
              <a:solidFill>
                <a:srgbClr val="FFFFFF"/>
              </a:solidFill>
            </a:endParaRPr>
          </a:p>
        </p:txBody>
      </p:sp>
      <p:graphicFrame>
        <p:nvGraphicFramePr>
          <p:cNvPr id="4" name="Content Placeholder 3">
            <a:extLst>
              <a:ext uri="{FF2B5EF4-FFF2-40B4-BE49-F238E27FC236}">
                <a16:creationId xmlns:a16="http://schemas.microsoft.com/office/drawing/2014/main" id="{AA953558-E85D-958E-ED6C-550E15D08D82}"/>
              </a:ext>
            </a:extLst>
          </p:cNvPr>
          <p:cNvGraphicFramePr>
            <a:graphicFrameLocks noGrp="1"/>
          </p:cNvGraphicFramePr>
          <p:nvPr>
            <p:ph idx="1"/>
            <p:extLst>
              <p:ext uri="{D42A27DB-BD31-4B8C-83A1-F6EECF244321}">
                <p14:modId xmlns:p14="http://schemas.microsoft.com/office/powerpoint/2010/main" val="146005857"/>
              </p:ext>
            </p:extLst>
          </p:nvPr>
        </p:nvGraphicFramePr>
        <p:xfrm>
          <a:off x="644056" y="2322208"/>
          <a:ext cx="10927832" cy="3773553"/>
        </p:xfrm>
        <a:graphic>
          <a:graphicData uri="http://schemas.openxmlformats.org/drawingml/2006/table">
            <a:tbl>
              <a:tblPr firstRow="1" bandRow="1">
                <a:tableStyleId>{5C22544A-7EE6-4342-B048-85BDC9FD1C3A}</a:tableStyleId>
              </a:tblPr>
              <a:tblGrid>
                <a:gridCol w="995089">
                  <a:extLst>
                    <a:ext uri="{9D8B030D-6E8A-4147-A177-3AD203B41FA5}">
                      <a16:colId xmlns:a16="http://schemas.microsoft.com/office/drawing/2014/main" val="2575011905"/>
                    </a:ext>
                  </a:extLst>
                </a:gridCol>
                <a:gridCol w="1274636">
                  <a:extLst>
                    <a:ext uri="{9D8B030D-6E8A-4147-A177-3AD203B41FA5}">
                      <a16:colId xmlns:a16="http://schemas.microsoft.com/office/drawing/2014/main" val="2904119001"/>
                    </a:ext>
                  </a:extLst>
                </a:gridCol>
                <a:gridCol w="1016814">
                  <a:extLst>
                    <a:ext uri="{9D8B030D-6E8A-4147-A177-3AD203B41FA5}">
                      <a16:colId xmlns:a16="http://schemas.microsoft.com/office/drawing/2014/main" val="2866659410"/>
                    </a:ext>
                  </a:extLst>
                </a:gridCol>
                <a:gridCol w="1380000">
                  <a:extLst>
                    <a:ext uri="{9D8B030D-6E8A-4147-A177-3AD203B41FA5}">
                      <a16:colId xmlns:a16="http://schemas.microsoft.com/office/drawing/2014/main" val="3543396860"/>
                    </a:ext>
                  </a:extLst>
                </a:gridCol>
                <a:gridCol w="1184189">
                  <a:extLst>
                    <a:ext uri="{9D8B030D-6E8A-4147-A177-3AD203B41FA5}">
                      <a16:colId xmlns:a16="http://schemas.microsoft.com/office/drawing/2014/main" val="1427129122"/>
                    </a:ext>
                  </a:extLst>
                </a:gridCol>
                <a:gridCol w="1499244">
                  <a:extLst>
                    <a:ext uri="{9D8B030D-6E8A-4147-A177-3AD203B41FA5}">
                      <a16:colId xmlns:a16="http://schemas.microsoft.com/office/drawing/2014/main" val="3205186156"/>
                    </a:ext>
                  </a:extLst>
                </a:gridCol>
                <a:gridCol w="1258784">
                  <a:extLst>
                    <a:ext uri="{9D8B030D-6E8A-4147-A177-3AD203B41FA5}">
                      <a16:colId xmlns:a16="http://schemas.microsoft.com/office/drawing/2014/main" val="112200749"/>
                    </a:ext>
                  </a:extLst>
                </a:gridCol>
                <a:gridCol w="1818243">
                  <a:extLst>
                    <a:ext uri="{9D8B030D-6E8A-4147-A177-3AD203B41FA5}">
                      <a16:colId xmlns:a16="http://schemas.microsoft.com/office/drawing/2014/main" val="3887761058"/>
                    </a:ext>
                  </a:extLst>
                </a:gridCol>
                <a:gridCol w="500833">
                  <a:extLst>
                    <a:ext uri="{9D8B030D-6E8A-4147-A177-3AD203B41FA5}">
                      <a16:colId xmlns:a16="http://schemas.microsoft.com/office/drawing/2014/main" val="1993919828"/>
                    </a:ext>
                  </a:extLst>
                </a:gridCol>
              </a:tblGrid>
              <a:tr h="369350">
                <a:tc>
                  <a:txBody>
                    <a:bodyPr/>
                    <a:lstStyle/>
                    <a:p>
                      <a:pPr algn="ctr" fontAlgn="ctr">
                        <a:buNone/>
                      </a:pPr>
                      <a:r>
                        <a:rPr lang="en-IN" sz="1100" u="none" strike="noStrike">
                          <a:effectLst/>
                        </a:rPr>
                        <a:t>Variant</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PolyPhen Prediction</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PolyPhen Score</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Protein Change</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cDNA Change</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ClinVar ID</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MutationTaster Prediction</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MT Probability</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2235124759"/>
                  </a:ext>
                </a:extLst>
              </a:tr>
              <a:tr h="208629">
                <a:tc>
                  <a:txBody>
                    <a:bodyPr/>
                    <a:lstStyle/>
                    <a:p>
                      <a:pPr algn="l" fontAlgn="ctr">
                        <a:buNone/>
                      </a:pPr>
                      <a:r>
                        <a:rPr lang="en-IN" sz="1100" u="none" strike="noStrike">
                          <a:effectLst/>
                        </a:rPr>
                        <a:t>M18R</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0.972</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p.Met18Arg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c.53T&gt;G</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VCV000531241.14</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polymorphism</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ctr">
                        <a:buNone/>
                      </a:pPr>
                      <a:r>
                        <a:rPr lang="en-IN" sz="1100" u="none" strike="noStrike">
                          <a:effectLst/>
                        </a:rPr>
                        <a:t>0.608975005</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817269467"/>
                  </a:ext>
                </a:extLst>
              </a:tr>
              <a:tr h="369350">
                <a:tc>
                  <a:txBody>
                    <a:bodyPr/>
                    <a:lstStyle/>
                    <a:p>
                      <a:pPr algn="l" fontAlgn="ctr">
                        <a:buNone/>
                      </a:pPr>
                      <a:r>
                        <a:rPr lang="en-IN" sz="1100" u="none" strike="noStrike">
                          <a:effectLst/>
                        </a:rPr>
                        <a:t>T1712I</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0.683</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p.Thr1712Ile</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c.5135C&gt;T</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VCV000037628.32</a:t>
                      </a:r>
                      <a:br>
                        <a:rPr lang="en-IN" sz="1100" u="none" strike="noStrike">
                          <a:effectLst/>
                        </a:rPr>
                      </a:b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0.999998726</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4195773656"/>
                  </a:ext>
                </a:extLst>
              </a:tr>
              <a:tr h="369350">
                <a:tc>
                  <a:txBody>
                    <a:bodyPr/>
                    <a:lstStyle/>
                    <a:p>
                      <a:pPr algn="l" fontAlgn="ctr">
                        <a:buNone/>
                      </a:pPr>
                      <a:r>
                        <a:rPr lang="en-IN" sz="1100" u="none" strike="noStrike">
                          <a:effectLst/>
                        </a:rPr>
                        <a:t>W1739C</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p.Trp1739Cys</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c.5217G&gt;C</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100" u="none" strike="noStrike">
                          <a:effectLst/>
                        </a:rPr>
                        <a:t>VCV000055435.40</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1</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3819902560"/>
                  </a:ext>
                </a:extLst>
              </a:tr>
              <a:tr h="369350">
                <a:tc>
                  <a:txBody>
                    <a:bodyPr/>
                    <a:lstStyle/>
                    <a:p>
                      <a:pPr algn="l" fontAlgn="ctr">
                        <a:buNone/>
                      </a:pPr>
                      <a:r>
                        <a:rPr lang="en-IN" sz="1100" u="none" strike="noStrike">
                          <a:effectLst/>
                        </a:rPr>
                        <a:t>D1760Y</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0.974</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p.Asp1760Tyr</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c.5278G&gt;T</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VCV000055464.12</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0.993136084057622 </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2282191731"/>
                  </a:ext>
                </a:extLst>
              </a:tr>
              <a:tr h="369350">
                <a:tc>
                  <a:txBody>
                    <a:bodyPr/>
                    <a:lstStyle/>
                    <a:p>
                      <a:pPr algn="l" fontAlgn="ctr">
                        <a:buNone/>
                      </a:pPr>
                      <a:r>
                        <a:rPr lang="en-IN" sz="1100" u="none" strike="noStrike">
                          <a:effectLst/>
                        </a:rPr>
                        <a:t>G1788V</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Benign</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0.193</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p.Gly1788Val</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c.5363G&gt;T</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300" u="none" strike="noStrike">
                          <a:effectLst/>
                        </a:rPr>
                        <a:t>VCV000037660.33</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1</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957441819"/>
                  </a:ext>
                </a:extLst>
              </a:tr>
              <a:tr h="240774">
                <a:tc>
                  <a:txBody>
                    <a:bodyPr/>
                    <a:lstStyle/>
                    <a:p>
                      <a:pPr algn="l" fontAlgn="ctr">
                        <a:buNone/>
                      </a:pPr>
                      <a:r>
                        <a:rPr lang="en-IN" sz="1100" u="none" strike="noStrike">
                          <a:effectLst/>
                        </a:rPr>
                        <a:t>W1858R</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1</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p.Trp1858Arg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c.5572T&gt;C</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VCV000037679.63</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r>
                        <a:rPr lang="en-IN" sz="1100" u="none" strike="noStrike">
                          <a:effectLst/>
                        </a:rPr>
                        <a:t>polymorphism</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1</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4021834260"/>
                  </a:ext>
                </a:extLst>
              </a:tr>
              <a:tr h="369350">
                <a:tc>
                  <a:txBody>
                    <a:bodyPr/>
                    <a:lstStyle/>
                    <a:p>
                      <a:pPr algn="l" fontAlgn="ctr">
                        <a:buNone/>
                      </a:pPr>
                      <a:r>
                        <a:rPr lang="en-IN" sz="1100" u="none" strike="noStrike">
                          <a:effectLst/>
                        </a:rPr>
                        <a:t>C61G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Benign</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0.116</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p.Cys61Gly</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c.181T&gt;G</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VCV000017661.158</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0.999972352</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2762259306"/>
                  </a:ext>
                </a:extLst>
              </a:tr>
              <a:tr h="369350">
                <a:tc>
                  <a:txBody>
                    <a:bodyPr/>
                    <a:lstStyle/>
                    <a:p>
                      <a:pPr algn="l" fontAlgn="ctr">
                        <a:buNone/>
                      </a:pPr>
                      <a:r>
                        <a:rPr lang="en-IN" sz="1100" u="none" strike="noStrike">
                          <a:effectLst/>
                        </a:rPr>
                        <a:t>R1699W</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p.Arg1699Trp</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c.5095C&gt;T</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VCV000055396.99</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0.999963667</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1019868689"/>
                  </a:ext>
                </a:extLst>
              </a:tr>
              <a:tr h="369350">
                <a:tc>
                  <a:txBody>
                    <a:bodyPr/>
                    <a:lstStyle/>
                    <a:p>
                      <a:pPr algn="l" fontAlgn="ctr">
                        <a:buNone/>
                      </a:pPr>
                      <a:r>
                        <a:rPr lang="en-IN" sz="1100" u="none" strike="noStrike">
                          <a:effectLst/>
                        </a:rPr>
                        <a:t>M1775R</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0.648</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p.Met1775Arg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c.5324T&gt;G</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VCV000017694.51</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ctr">
                        <a:buNone/>
                      </a:pPr>
                      <a:r>
                        <a:rPr lang="en-IN" sz="1100" u="none" strike="noStrike">
                          <a:effectLst/>
                        </a:rPr>
                        <a:t>1</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740417075"/>
                  </a:ext>
                </a:extLst>
              </a:tr>
              <a:tr h="369350">
                <a:tc>
                  <a:txBody>
                    <a:bodyPr/>
                    <a:lstStyle/>
                    <a:p>
                      <a:pPr algn="l" fontAlgn="ctr">
                        <a:buNone/>
                      </a:pPr>
                      <a:r>
                        <a:rPr lang="en-IN" sz="1100" u="none" strike="noStrike">
                          <a:effectLst/>
                        </a:rPr>
                        <a:t>L1839S</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0.998</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p.Leu1839Ser</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c.5516T&gt;C</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VCV000091656.22</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0.999947956</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4001726872"/>
                  </a:ext>
                </a:extLst>
              </a:tr>
            </a:tbl>
          </a:graphicData>
        </a:graphic>
      </p:graphicFrame>
    </p:spTree>
    <p:extLst>
      <p:ext uri="{BB962C8B-B14F-4D97-AF65-F5344CB8AC3E}">
        <p14:creationId xmlns:p14="http://schemas.microsoft.com/office/powerpoint/2010/main" val="3515888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173C0-D878-EB5E-0642-8D02F659730F}"/>
              </a:ext>
            </a:extLst>
          </p:cNvPr>
          <p:cNvSpPr>
            <a:spLocks noGrp="1"/>
          </p:cNvSpPr>
          <p:nvPr>
            <p:ph type="title"/>
          </p:nvPr>
        </p:nvSpPr>
        <p:spPr/>
        <p:txBody>
          <a:bodyPr/>
          <a:lstStyle/>
          <a:p>
            <a:r>
              <a:rPr lang="en-US" dirty="0" err="1"/>
              <a:t>PolyPhen</a:t>
            </a:r>
            <a:r>
              <a:rPr lang="en-US" dirty="0"/>
              <a:t> Score</a:t>
            </a:r>
            <a:endParaRPr lang="en-IN" dirty="0"/>
          </a:p>
        </p:txBody>
      </p:sp>
      <p:sp>
        <p:nvSpPr>
          <p:cNvPr id="3" name="Content Placeholder 2">
            <a:extLst>
              <a:ext uri="{FF2B5EF4-FFF2-40B4-BE49-F238E27FC236}">
                <a16:creationId xmlns:a16="http://schemas.microsoft.com/office/drawing/2014/main" id="{A94B7095-DE80-A5A9-4CAC-0D266BE8D8D0}"/>
              </a:ext>
            </a:extLst>
          </p:cNvPr>
          <p:cNvSpPr>
            <a:spLocks noGrp="1"/>
          </p:cNvSpPr>
          <p:nvPr>
            <p:ph sz="half" idx="1"/>
          </p:nvPr>
        </p:nvSpPr>
        <p:spPr/>
        <p:txBody>
          <a:bodyPr>
            <a:normAutofit/>
          </a:bodyPr>
          <a:lstStyle/>
          <a:p>
            <a:r>
              <a:rPr lang="en-US" dirty="0"/>
              <a:t> </a:t>
            </a:r>
            <a:endParaRPr lang="en-IN" dirty="0"/>
          </a:p>
        </p:txBody>
      </p:sp>
      <p:sp>
        <p:nvSpPr>
          <p:cNvPr id="4" name="Content Placeholder 3">
            <a:extLst>
              <a:ext uri="{FF2B5EF4-FFF2-40B4-BE49-F238E27FC236}">
                <a16:creationId xmlns:a16="http://schemas.microsoft.com/office/drawing/2014/main" id="{40EAA7B0-35E3-26B5-A28E-467E5FA84FAE}"/>
              </a:ext>
            </a:extLst>
          </p:cNvPr>
          <p:cNvSpPr>
            <a:spLocks noGrp="1"/>
          </p:cNvSpPr>
          <p:nvPr>
            <p:ph sz="half" idx="2"/>
          </p:nvPr>
        </p:nvSpPr>
        <p:spPr>
          <a:xfrm>
            <a:off x="6571488" y="1825625"/>
            <a:ext cx="5544312" cy="4351338"/>
          </a:xfrm>
        </p:spPr>
        <p:txBody>
          <a:bodyPr>
            <a:normAutofit/>
          </a:bodyPr>
          <a:lstStyle/>
          <a:p>
            <a:r>
              <a:rPr lang="en-IN" sz="1900" dirty="0"/>
              <a:t>PolyPhen-2 analysis showed that most of the selected BRCA1 variants are likely to affect protein function. Out of the ten variants </a:t>
            </a:r>
            <a:r>
              <a:rPr lang="en-IN" sz="1900" dirty="0" err="1"/>
              <a:t>analyzed</a:t>
            </a:r>
            <a:r>
              <a:rPr lang="en-IN" sz="1900" dirty="0"/>
              <a:t>, eight were classified as probably damaging, while two were predicted to be benign. The highest pathogenicity scores were observed for W1858R (1.000), W1739C (0.999), and R1699W (0.999), indicating a strong likelihood of disrupting normal BRCA1 protein activity.</a:t>
            </a:r>
          </a:p>
          <a:p>
            <a:endParaRPr lang="en-IN" dirty="0"/>
          </a:p>
        </p:txBody>
      </p:sp>
      <p:graphicFrame>
        <p:nvGraphicFramePr>
          <p:cNvPr id="5" name="Chart 4">
            <a:extLst>
              <a:ext uri="{FF2B5EF4-FFF2-40B4-BE49-F238E27FC236}">
                <a16:creationId xmlns:a16="http://schemas.microsoft.com/office/drawing/2014/main" id="{F6264E11-EAF0-17D0-7960-32291CAAF8EE}"/>
              </a:ext>
            </a:extLst>
          </p:cNvPr>
          <p:cNvGraphicFramePr>
            <a:graphicFrameLocks/>
          </p:cNvGraphicFramePr>
          <p:nvPr>
            <p:extLst>
              <p:ext uri="{D42A27DB-BD31-4B8C-83A1-F6EECF244321}">
                <p14:modId xmlns:p14="http://schemas.microsoft.com/office/powerpoint/2010/main" val="1322403521"/>
              </p:ext>
            </p:extLst>
          </p:nvPr>
        </p:nvGraphicFramePr>
        <p:xfrm>
          <a:off x="713233" y="1825625"/>
          <a:ext cx="5733288" cy="44197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22023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6FB54B-AAF3-1E17-9F84-E97CBBC9A645}"/>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a:t>Structural Analysis of C61G</a:t>
            </a:r>
          </a:p>
        </p:txBody>
      </p:sp>
      <p:sp>
        <p:nvSpPr>
          <p:cNvPr id="3" name="Content Placeholder 2">
            <a:extLst>
              <a:ext uri="{FF2B5EF4-FFF2-40B4-BE49-F238E27FC236}">
                <a16:creationId xmlns:a16="http://schemas.microsoft.com/office/drawing/2014/main" id="{B3E53A84-BEC8-EFE0-5E22-066B54594E6D}"/>
              </a:ext>
            </a:extLst>
          </p:cNvPr>
          <p:cNvSpPr>
            <a:spLocks noGrp="1"/>
          </p:cNvSpPr>
          <p:nvPr>
            <p:ph sz="half" idx="1"/>
          </p:nvPr>
        </p:nvSpPr>
        <p:spPr>
          <a:xfrm>
            <a:off x="761800" y="2470244"/>
            <a:ext cx="5334197" cy="3769835"/>
          </a:xfrm>
        </p:spPr>
        <p:txBody>
          <a:bodyPr vert="horz" lIns="91440" tIns="45720" rIns="91440" bIns="45720" rtlCol="0" anchor="ctr">
            <a:normAutofit/>
          </a:bodyPr>
          <a:lstStyle/>
          <a:p>
            <a:r>
              <a:rPr lang="en-US" sz="2000"/>
              <a:t>Structural analysis of the C61G mutation revealed a significant change in the BRCA1 RING domain. In the wild-type protein, Cys61 helps coordinate a zinc ion (Zn²⁺), which is essential for maintaining the structural stability of the RING domain. Replacement of cysteine with glycine removes the sulfur-containing side chain required for zinc binding. As a result, zinc coordination is disrupted, leading to local structural instability and potential loss of BRCA1 function.</a:t>
            </a:r>
          </a:p>
          <a:p>
            <a:endParaRPr lang="en-US" sz="2000"/>
          </a:p>
        </p:txBody>
      </p:sp>
      <p:pic>
        <p:nvPicPr>
          <p:cNvPr id="6" name="Content Placeholder 5">
            <a:extLst>
              <a:ext uri="{FF2B5EF4-FFF2-40B4-BE49-F238E27FC236}">
                <a16:creationId xmlns:a16="http://schemas.microsoft.com/office/drawing/2014/main" id="{6FC4DC71-BF40-9061-57E7-CE3B6786BE2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l="22380" r="21319"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622094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D3FB18-A3FD-CD57-547C-3D5F0B6ED911}"/>
              </a:ext>
            </a:extLst>
          </p:cNvPr>
          <p:cNvSpPr>
            <a:spLocks noGrp="1"/>
          </p:cNvSpPr>
          <p:nvPr>
            <p:ph type="title"/>
          </p:nvPr>
        </p:nvSpPr>
        <p:spPr>
          <a:xfrm>
            <a:off x="640080" y="329184"/>
            <a:ext cx="6894576" cy="1783080"/>
          </a:xfrm>
        </p:spPr>
        <p:txBody>
          <a:bodyPr vert="horz" lIns="91440" tIns="45720" rIns="91440" bIns="45720" rtlCol="0" anchor="b">
            <a:normAutofit/>
          </a:bodyPr>
          <a:lstStyle/>
          <a:p>
            <a:r>
              <a:rPr lang="en-US" sz="5400"/>
              <a:t>Structural Analysis of W1739C</a:t>
            </a:r>
          </a:p>
        </p:txBody>
      </p:sp>
      <p:sp>
        <p:nvSpPr>
          <p:cNvPr id="2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EE045E-1BFD-FBF5-A7B5-A6FB31C2D890}"/>
              </a:ext>
            </a:extLst>
          </p:cNvPr>
          <p:cNvSpPr>
            <a:spLocks noGrp="1"/>
          </p:cNvSpPr>
          <p:nvPr>
            <p:ph sz="half" idx="1"/>
          </p:nvPr>
        </p:nvSpPr>
        <p:spPr>
          <a:xfrm>
            <a:off x="640080" y="2706624"/>
            <a:ext cx="6894576" cy="3483864"/>
          </a:xfrm>
        </p:spPr>
        <p:txBody>
          <a:bodyPr vert="horz" lIns="91440" tIns="45720" rIns="91440" bIns="45720" rtlCol="0">
            <a:normAutofit/>
          </a:bodyPr>
          <a:lstStyle/>
          <a:p>
            <a:r>
              <a:rPr lang="en-US" sz="1700" dirty="0"/>
              <a:t>The W1739C mutation is located within the BRCT domain of the BRCA1 protein, a region that plays a critical role in DNA damage recognition and repair. In the wild-type protein, tryptophan (Trp1739) is a large aromatic amino acid that contributes to the stability of the BRCT domain through hydrophobic interactions with neighboring residues. Substitution of tryptophan with cysteine results in the loss of the bulky aromatic side chain and introduces a smaller sulfur-containing residue. This alteration may disrupt local hydrophobic interactions and affect the structural integrity of the BRCT domain. Consequently, the mutation is predicted to impair protein–protein interactions involved in DNA repair signaling, potentially reducing BRCA1 function and increasing cancer susceptibility.</a:t>
            </a:r>
          </a:p>
          <a:p>
            <a:endParaRPr lang="en-US" sz="1700" dirty="0"/>
          </a:p>
        </p:txBody>
      </p:sp>
      <p:pic>
        <p:nvPicPr>
          <p:cNvPr id="8" name="Picture 7">
            <a:extLst>
              <a:ext uri="{FF2B5EF4-FFF2-40B4-BE49-F238E27FC236}">
                <a16:creationId xmlns:a16="http://schemas.microsoft.com/office/drawing/2014/main" id="{34AA3B6D-A109-96A7-008C-7A9A314D37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3840" y="1181111"/>
            <a:ext cx="4014216" cy="1726113"/>
          </a:xfrm>
          <a:prstGeom prst="rect">
            <a:avLst/>
          </a:prstGeom>
        </p:spPr>
      </p:pic>
      <p:pic>
        <p:nvPicPr>
          <p:cNvPr id="6" name="Content Placeholder 5">
            <a:extLst>
              <a:ext uri="{FF2B5EF4-FFF2-40B4-BE49-F238E27FC236}">
                <a16:creationId xmlns:a16="http://schemas.microsoft.com/office/drawing/2014/main" id="{0B8B8959-8F80-7071-3765-A349DFAE9C5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863840" y="4308204"/>
            <a:ext cx="3995928" cy="1718249"/>
          </a:xfrm>
          <a:prstGeom prst="rect">
            <a:avLst/>
          </a:prstGeom>
        </p:spPr>
      </p:pic>
      <p:sp>
        <p:nvSpPr>
          <p:cNvPr id="9" name="TextBox 8">
            <a:extLst>
              <a:ext uri="{FF2B5EF4-FFF2-40B4-BE49-F238E27FC236}">
                <a16:creationId xmlns:a16="http://schemas.microsoft.com/office/drawing/2014/main" id="{AEE24B94-8B4C-8A20-9D59-DB694CB3EB28}"/>
              </a:ext>
            </a:extLst>
          </p:cNvPr>
          <p:cNvSpPr txBox="1"/>
          <p:nvPr/>
        </p:nvSpPr>
        <p:spPr>
          <a:xfrm>
            <a:off x="7943850" y="3162300"/>
            <a:ext cx="3533775" cy="369332"/>
          </a:xfrm>
          <a:prstGeom prst="rect">
            <a:avLst/>
          </a:prstGeom>
          <a:noFill/>
        </p:spPr>
        <p:txBody>
          <a:bodyPr wrap="square" rtlCol="0">
            <a:spAutoFit/>
          </a:bodyPr>
          <a:lstStyle/>
          <a:p>
            <a:r>
              <a:rPr lang="en-US" dirty="0"/>
              <a:t>mutated </a:t>
            </a:r>
            <a:r>
              <a:rPr lang="en-IN" dirty="0"/>
              <a:t>BRCT domain</a:t>
            </a:r>
          </a:p>
        </p:txBody>
      </p:sp>
      <p:sp>
        <p:nvSpPr>
          <p:cNvPr id="10" name="TextBox 9">
            <a:extLst>
              <a:ext uri="{FF2B5EF4-FFF2-40B4-BE49-F238E27FC236}">
                <a16:creationId xmlns:a16="http://schemas.microsoft.com/office/drawing/2014/main" id="{9970F788-9C76-DAC1-14E6-089DC0EB3677}"/>
              </a:ext>
            </a:extLst>
          </p:cNvPr>
          <p:cNvSpPr txBox="1"/>
          <p:nvPr/>
        </p:nvSpPr>
        <p:spPr>
          <a:xfrm>
            <a:off x="7730490" y="6190488"/>
            <a:ext cx="3533775" cy="369332"/>
          </a:xfrm>
          <a:prstGeom prst="rect">
            <a:avLst/>
          </a:prstGeom>
          <a:noFill/>
        </p:spPr>
        <p:txBody>
          <a:bodyPr wrap="square" rtlCol="0">
            <a:spAutoFit/>
          </a:bodyPr>
          <a:lstStyle/>
          <a:p>
            <a:r>
              <a:rPr lang="en-US" dirty="0"/>
              <a:t>Non mutated </a:t>
            </a:r>
            <a:r>
              <a:rPr lang="en-IN" dirty="0"/>
              <a:t>BRCT domain</a:t>
            </a:r>
          </a:p>
        </p:txBody>
      </p:sp>
    </p:spTree>
    <p:extLst>
      <p:ext uri="{BB962C8B-B14F-4D97-AF65-F5344CB8AC3E}">
        <p14:creationId xmlns:p14="http://schemas.microsoft.com/office/powerpoint/2010/main" val="3518222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c 1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D61E6B-78C6-373D-A223-925F9B6FC990}"/>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Summary of Major Findings</a:t>
            </a:r>
          </a:p>
        </p:txBody>
      </p:sp>
      <p:sp>
        <p:nvSpPr>
          <p:cNvPr id="17" name="Freeform: Shape 16">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D8736860-5BFA-AFE7-08AB-F3972653875F}"/>
              </a:ext>
            </a:extLst>
          </p:cNvPr>
          <p:cNvSpPr txBox="1"/>
          <p:nvPr/>
        </p:nvSpPr>
        <p:spPr>
          <a:xfrm>
            <a:off x="5894962" y="1984443"/>
            <a:ext cx="5458838" cy="41925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b="1"/>
              <a:t> </a:t>
            </a:r>
            <a:r>
              <a:rPr lang="en-US"/>
              <a:t>Analysis of ten BRCA1 variants revealed that the majority are predicted to have a deleterious effect on protein function. Eight variants were classified as probably damaging by PolyPhen-2, while MutationTaster identified eight variants as disease-causing. Most mutations were located within the BRCT domain, highlighting its importance in maintaining BRCA1-mediated DNA repair functions. Structural analyses further demonstrated how specific amino acid substitutions may compromise protein stability and activity.</a:t>
            </a:r>
          </a:p>
          <a:p>
            <a:pPr indent="-228600">
              <a:lnSpc>
                <a:spcPct val="90000"/>
              </a:lnSpc>
              <a:spcAft>
                <a:spcPts val="600"/>
              </a:spcAft>
              <a:buFont typeface="Arial" panose="020B0604020202020204" pitchFamily="34" charset="0"/>
              <a:buChar char="•"/>
            </a:pPr>
            <a:endParaRPr lang="en-US" b="1"/>
          </a:p>
        </p:txBody>
      </p:sp>
      <p:graphicFrame>
        <p:nvGraphicFramePr>
          <p:cNvPr id="8" name="Content Placeholder 7">
            <a:extLst>
              <a:ext uri="{FF2B5EF4-FFF2-40B4-BE49-F238E27FC236}">
                <a16:creationId xmlns:a16="http://schemas.microsoft.com/office/drawing/2014/main" id="{3C00DE93-7224-F4BF-EE92-442FA486DA22}"/>
              </a:ext>
            </a:extLst>
          </p:cNvPr>
          <p:cNvGraphicFramePr>
            <a:graphicFrameLocks noGrp="1"/>
          </p:cNvGraphicFramePr>
          <p:nvPr>
            <p:ph idx="1"/>
            <p:extLst>
              <p:ext uri="{D42A27DB-BD31-4B8C-83A1-F6EECF244321}">
                <p14:modId xmlns:p14="http://schemas.microsoft.com/office/powerpoint/2010/main" val="1005034732"/>
              </p:ext>
            </p:extLst>
          </p:nvPr>
        </p:nvGraphicFramePr>
        <p:xfrm>
          <a:off x="703182" y="662444"/>
          <a:ext cx="4777382" cy="5363373"/>
        </p:xfrm>
        <a:graphic>
          <a:graphicData uri="http://schemas.openxmlformats.org/drawingml/2006/table">
            <a:tbl>
              <a:tblPr firstRow="1" bandRow="1">
                <a:tableStyleId>{5C22544A-7EE6-4342-B048-85BDC9FD1C3A}</a:tableStyleId>
              </a:tblPr>
              <a:tblGrid>
                <a:gridCol w="2955376">
                  <a:extLst>
                    <a:ext uri="{9D8B030D-6E8A-4147-A177-3AD203B41FA5}">
                      <a16:colId xmlns:a16="http://schemas.microsoft.com/office/drawing/2014/main" val="535160676"/>
                    </a:ext>
                  </a:extLst>
                </a:gridCol>
                <a:gridCol w="1822006">
                  <a:extLst>
                    <a:ext uri="{9D8B030D-6E8A-4147-A177-3AD203B41FA5}">
                      <a16:colId xmlns:a16="http://schemas.microsoft.com/office/drawing/2014/main" val="1790141406"/>
                    </a:ext>
                  </a:extLst>
                </a:gridCol>
              </a:tblGrid>
              <a:tr h="449766">
                <a:tc>
                  <a:txBody>
                    <a:bodyPr/>
                    <a:lstStyle/>
                    <a:p>
                      <a:pPr algn="ctr" fontAlgn="ctr">
                        <a:buNone/>
                      </a:pPr>
                      <a:r>
                        <a:rPr lang="en-IN" sz="2300" u="none" strike="noStrike">
                          <a:effectLst/>
                        </a:rPr>
                        <a:t>Finding</a:t>
                      </a:r>
                      <a:endParaRPr lang="en-IN" sz="2300" b="1" i="0" u="none" strike="noStrike">
                        <a:solidFill>
                          <a:srgbClr val="000000"/>
                        </a:solidFill>
                        <a:effectLst/>
                        <a:latin typeface="Aptos Narrow" panose="020B0004020202020204" pitchFamily="34" charset="0"/>
                      </a:endParaRPr>
                    </a:p>
                  </a:txBody>
                  <a:tcPr marL="19687" marR="19687" marT="19687" marB="0" anchor="ctr"/>
                </a:tc>
                <a:tc>
                  <a:txBody>
                    <a:bodyPr/>
                    <a:lstStyle/>
                    <a:p>
                      <a:pPr algn="ctr" fontAlgn="ctr">
                        <a:buNone/>
                      </a:pPr>
                      <a:r>
                        <a:rPr lang="en-IN" sz="2300" u="none" strike="noStrike">
                          <a:effectLst/>
                        </a:rPr>
                        <a:t>Observation</a:t>
                      </a:r>
                      <a:endParaRPr lang="en-IN" sz="2300" b="1"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4045469829"/>
                  </a:ext>
                </a:extLst>
              </a:tr>
              <a:tr h="449766">
                <a:tc>
                  <a:txBody>
                    <a:bodyPr/>
                    <a:lstStyle/>
                    <a:p>
                      <a:pPr algn="l" fontAlgn="ctr">
                        <a:buNone/>
                      </a:pPr>
                      <a:r>
                        <a:rPr lang="en-IN" sz="2300" u="none" strike="noStrike">
                          <a:effectLst/>
                        </a:rPr>
                        <a:t>Variants analyzed</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10</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732950141"/>
                  </a:ext>
                </a:extLst>
              </a:tr>
              <a:tr h="802815">
                <a:tc>
                  <a:txBody>
                    <a:bodyPr/>
                    <a:lstStyle/>
                    <a:p>
                      <a:pPr algn="l" fontAlgn="ctr">
                        <a:buNone/>
                      </a:pPr>
                      <a:r>
                        <a:rPr lang="en-IN" sz="2300" u="none" strike="noStrike">
                          <a:effectLst/>
                        </a:rPr>
                        <a:t>Probably Damaging (PolyPhen-2)</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8</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11561241"/>
                  </a:ext>
                </a:extLst>
              </a:tr>
              <a:tr h="449766">
                <a:tc>
                  <a:txBody>
                    <a:bodyPr/>
                    <a:lstStyle/>
                    <a:p>
                      <a:pPr algn="l" fontAlgn="ctr">
                        <a:buNone/>
                      </a:pPr>
                      <a:r>
                        <a:rPr lang="en-IN" sz="2300" u="none" strike="noStrike">
                          <a:effectLst/>
                        </a:rPr>
                        <a:t>Benign (PolyPhen-2)</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2</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2866012072"/>
                  </a:ext>
                </a:extLst>
              </a:tr>
              <a:tr h="802815">
                <a:tc>
                  <a:txBody>
                    <a:bodyPr/>
                    <a:lstStyle/>
                    <a:p>
                      <a:pPr algn="l" fontAlgn="ctr">
                        <a:buNone/>
                      </a:pPr>
                      <a:r>
                        <a:rPr lang="en-IN" sz="2300" u="none" strike="noStrike">
                          <a:effectLst/>
                        </a:rPr>
                        <a:t>Disease Causing (MutationTaster)</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8</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1530460948"/>
                  </a:ext>
                </a:extLst>
              </a:tr>
              <a:tr h="802815">
                <a:tc>
                  <a:txBody>
                    <a:bodyPr/>
                    <a:lstStyle/>
                    <a:p>
                      <a:pPr algn="l" fontAlgn="ctr">
                        <a:buNone/>
                      </a:pPr>
                      <a:r>
                        <a:rPr lang="en-IN" sz="2300" u="none" strike="noStrike">
                          <a:effectLst/>
                        </a:rPr>
                        <a:t>Polymorphism (MutationTaster)</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2</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2939727396"/>
                  </a:ext>
                </a:extLst>
              </a:tr>
              <a:tr h="802815">
                <a:tc>
                  <a:txBody>
                    <a:bodyPr/>
                    <a:lstStyle/>
                    <a:p>
                      <a:pPr algn="l" fontAlgn="ctr">
                        <a:buNone/>
                      </a:pPr>
                      <a:r>
                        <a:rPr lang="en-IN" sz="2300" u="none" strike="noStrike">
                          <a:effectLst/>
                        </a:rPr>
                        <a:t>RING Domain Variants</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2</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2185135573"/>
                  </a:ext>
                </a:extLst>
              </a:tr>
              <a:tr h="802815">
                <a:tc>
                  <a:txBody>
                    <a:bodyPr/>
                    <a:lstStyle/>
                    <a:p>
                      <a:pPr algn="l" fontAlgn="ctr">
                        <a:buNone/>
                      </a:pPr>
                      <a:r>
                        <a:rPr lang="en-IN" sz="2300" u="none" strike="noStrike">
                          <a:effectLst/>
                        </a:rPr>
                        <a:t>BRCT Domain Variants</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8</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2961136153"/>
                  </a:ext>
                </a:extLst>
              </a:tr>
            </a:tbl>
          </a:graphicData>
        </a:graphic>
      </p:graphicFrame>
    </p:spTree>
    <p:extLst>
      <p:ext uri="{BB962C8B-B14F-4D97-AF65-F5344CB8AC3E}">
        <p14:creationId xmlns:p14="http://schemas.microsoft.com/office/powerpoint/2010/main" val="339762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0000"/>
                <a:lumOff val="4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A062495-A548-DF12-0250-33000FC57501}"/>
              </a:ext>
            </a:extLst>
          </p:cNvPr>
          <p:cNvSpPr>
            <a:spLocks noGrp="1"/>
          </p:cNvSpPr>
          <p:nvPr>
            <p:ph type="title"/>
          </p:nvPr>
        </p:nvSpPr>
        <p:spPr>
          <a:xfrm>
            <a:off x="838200" y="365125"/>
            <a:ext cx="10515600" cy="1325563"/>
          </a:xfrm>
        </p:spPr>
        <p:txBody>
          <a:bodyPr>
            <a:normAutofit/>
          </a:bodyPr>
          <a:lstStyle/>
          <a:p>
            <a:r>
              <a:rPr lang="en-US" dirty="0"/>
              <a:t>CONCLUSION</a:t>
            </a:r>
            <a:endParaRPr lang="en-IN" dirty="0"/>
          </a:p>
        </p:txBody>
      </p:sp>
      <p:sp>
        <p:nvSpPr>
          <p:cNvPr id="3" name="Content Placeholder 2">
            <a:extLst>
              <a:ext uri="{FF2B5EF4-FFF2-40B4-BE49-F238E27FC236}">
                <a16:creationId xmlns:a16="http://schemas.microsoft.com/office/drawing/2014/main" id="{5153F6FB-3431-8A82-7E89-7DC6BD13459C}"/>
              </a:ext>
            </a:extLst>
          </p:cNvPr>
          <p:cNvSpPr>
            <a:spLocks noGrp="1"/>
          </p:cNvSpPr>
          <p:nvPr>
            <p:ph sz="half" idx="1"/>
          </p:nvPr>
        </p:nvSpPr>
        <p:spPr>
          <a:xfrm>
            <a:off x="838200" y="2010833"/>
            <a:ext cx="5096934" cy="4166130"/>
          </a:xfrm>
        </p:spPr>
        <p:txBody>
          <a:bodyPr>
            <a:normAutofit/>
          </a:bodyPr>
          <a:lstStyle/>
          <a:p>
            <a:r>
              <a:rPr lang="en-IN" sz="1700"/>
              <a:t>Ten BRCA1 missense variants were successfully analyzed using bioinformatics tools.</a:t>
            </a:r>
          </a:p>
          <a:p>
            <a:r>
              <a:rPr lang="en-IN" sz="1700"/>
              <a:t> PolyPhen-2 and MutationTaster predicted that most variants are potentially pathogenic.</a:t>
            </a:r>
          </a:p>
          <a:p>
            <a:r>
              <a:rPr lang="en-IN" sz="1700"/>
              <a:t> The majority of the selected variants were located within the BRCT domain, highlighting its importance in DNA repair.</a:t>
            </a:r>
          </a:p>
          <a:p>
            <a:r>
              <a:rPr lang="en-IN" sz="1700"/>
              <a:t> Structural analysis of selected variants revealed potential effects on protein stability and function.</a:t>
            </a:r>
          </a:p>
          <a:p>
            <a:r>
              <a:rPr lang="en-IN" sz="1700"/>
              <a:t>Bioinformatics approaches provide a rapid and cost-effective strategy for prioritizing variants for further experimental studies.</a:t>
            </a:r>
          </a:p>
          <a:p>
            <a:endParaRPr lang="en-IN" sz="1700"/>
          </a:p>
        </p:txBody>
      </p:sp>
      <p:sp>
        <p:nvSpPr>
          <p:cNvPr id="4" name="Content Placeholder 3">
            <a:extLst>
              <a:ext uri="{FF2B5EF4-FFF2-40B4-BE49-F238E27FC236}">
                <a16:creationId xmlns:a16="http://schemas.microsoft.com/office/drawing/2014/main" id="{9BB36F3B-1B80-4AFE-4101-338F94F723B6}"/>
              </a:ext>
            </a:extLst>
          </p:cNvPr>
          <p:cNvSpPr>
            <a:spLocks noGrp="1"/>
          </p:cNvSpPr>
          <p:nvPr>
            <p:ph sz="half" idx="2"/>
          </p:nvPr>
        </p:nvSpPr>
        <p:spPr>
          <a:xfrm>
            <a:off x="6256866" y="2010833"/>
            <a:ext cx="5096933" cy="4166130"/>
          </a:xfrm>
        </p:spPr>
        <p:txBody>
          <a:bodyPr>
            <a:normAutofit/>
          </a:bodyPr>
          <a:lstStyle/>
          <a:p>
            <a:r>
              <a:rPr lang="en-IN" sz="2000" dirty="0"/>
              <a:t>Most BRCA1 variants examined in this study showed potential pathogenic effects. These findings highlight the importance of bioinformatics tools in identifying mutations associated with hereditary breast and ovarian cancer.</a:t>
            </a:r>
          </a:p>
        </p:txBody>
      </p:sp>
    </p:spTree>
    <p:extLst>
      <p:ext uri="{BB962C8B-B14F-4D97-AF65-F5344CB8AC3E}">
        <p14:creationId xmlns:p14="http://schemas.microsoft.com/office/powerpoint/2010/main" val="1343129889"/>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645AE-53A2-E9BE-F389-73A6CFE53D3F}"/>
              </a:ext>
            </a:extLst>
          </p:cNvPr>
          <p:cNvSpPr>
            <a:spLocks noGrp="1"/>
          </p:cNvSpPr>
          <p:nvPr>
            <p:ph type="title"/>
          </p:nvPr>
        </p:nvSpPr>
        <p:spPr/>
        <p:txBody>
          <a:bodyPr/>
          <a:lstStyle/>
          <a:p>
            <a:r>
              <a:rPr lang="en-IN" dirty="0"/>
              <a:t>Future Scope</a:t>
            </a:r>
          </a:p>
        </p:txBody>
      </p:sp>
      <p:sp>
        <p:nvSpPr>
          <p:cNvPr id="3" name="Content Placeholder 2">
            <a:extLst>
              <a:ext uri="{FF2B5EF4-FFF2-40B4-BE49-F238E27FC236}">
                <a16:creationId xmlns:a16="http://schemas.microsoft.com/office/drawing/2014/main" id="{89A6F1BC-8DED-9E53-4A0C-74582CB17233}"/>
              </a:ext>
            </a:extLst>
          </p:cNvPr>
          <p:cNvSpPr>
            <a:spLocks noGrp="1"/>
          </p:cNvSpPr>
          <p:nvPr>
            <p:ph idx="1"/>
          </p:nvPr>
        </p:nvSpPr>
        <p:spPr/>
        <p:txBody>
          <a:bodyPr/>
          <a:lstStyle/>
          <a:p>
            <a:r>
              <a:rPr lang="en-IN" dirty="0"/>
              <a:t>The present study provides a computational assessment of selected BRCA1 variants; however, further experimental validation is required to confirm their biological effects. Future studies may incorporate molecular dynamics simulations, protein interaction analyses, and larger variant datasets to gain deeper insights into the role of BRCA1 mutations in cancer development. Such approaches may contribute to improved genetic diagnosis and personalized treatment strategies.</a:t>
            </a:r>
          </a:p>
          <a:p>
            <a:endParaRPr lang="en-IN" dirty="0"/>
          </a:p>
        </p:txBody>
      </p:sp>
    </p:spTree>
    <p:extLst>
      <p:ext uri="{BB962C8B-B14F-4D97-AF65-F5344CB8AC3E}">
        <p14:creationId xmlns:p14="http://schemas.microsoft.com/office/powerpoint/2010/main" val="1443035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BD07-DDC9-E8C0-3356-1FDB42B1951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59C57B04-FA95-C850-5E87-72DBC73B5AD9}"/>
              </a:ext>
            </a:extLst>
          </p:cNvPr>
          <p:cNvSpPr>
            <a:spLocks noGrp="1"/>
          </p:cNvSpPr>
          <p:nvPr>
            <p:ph idx="1"/>
          </p:nvPr>
        </p:nvSpPr>
        <p:spPr/>
        <p:txBody>
          <a:bodyPr>
            <a:normAutofit fontScale="32500" lnSpcReduction="20000"/>
          </a:bodyPr>
          <a:lstStyle/>
          <a:p>
            <a:pPr lvl="0"/>
            <a:r>
              <a:rPr lang="en-IN" b="1" dirty="0" err="1"/>
              <a:t>AlphaMissense</a:t>
            </a:r>
            <a:r>
              <a:rPr lang="en-IN" b="1" dirty="0"/>
              <a:t> Consortium.</a:t>
            </a:r>
            <a:r>
              <a:rPr lang="en-IN" dirty="0"/>
              <a:t> (2023). Predicting the effects of missense variants in the human genome with </a:t>
            </a:r>
            <a:r>
              <a:rPr lang="en-IN" dirty="0" err="1"/>
              <a:t>AlphaMissense</a:t>
            </a:r>
            <a:r>
              <a:rPr lang="en-IN" dirty="0"/>
              <a:t>. </a:t>
            </a:r>
            <a:r>
              <a:rPr lang="en-IN" i="1" dirty="0"/>
              <a:t>Science</a:t>
            </a:r>
            <a:r>
              <a:rPr lang="en-IN" dirty="0"/>
              <a:t>, 381(6664), eadg7492.</a:t>
            </a:r>
          </a:p>
          <a:p>
            <a:pPr lvl="0"/>
            <a:r>
              <a:rPr lang="en-IN" dirty="0"/>
              <a:t>wissmodel.expasy.org</a:t>
            </a:r>
          </a:p>
          <a:p>
            <a:pPr lvl="0"/>
            <a:r>
              <a:rPr lang="en-IN" dirty="0"/>
              <a:t>wissmodel.expasy.org</a:t>
            </a:r>
          </a:p>
          <a:p>
            <a:pPr lvl="0"/>
            <a:r>
              <a:rPr lang="en-IN" u="sng" dirty="0">
                <a:hlinkClick r:id="rId2"/>
              </a:rPr>
              <a:t>https://www.ncbi.nlm.nih.gov/</a:t>
            </a:r>
            <a:endParaRPr lang="en-IN" dirty="0"/>
          </a:p>
          <a:p>
            <a:pPr lvl="0"/>
            <a:r>
              <a:rPr lang="en-IN" u="sng" dirty="0">
                <a:hlinkClick r:id="rId3"/>
              </a:rPr>
              <a:t>https://www.rcsb.org</a:t>
            </a:r>
            <a:endParaRPr lang="en-IN" dirty="0"/>
          </a:p>
          <a:p>
            <a:pPr lvl="0"/>
            <a:r>
              <a:rPr lang="en-IN" dirty="0"/>
              <a:t>https://www.ncbi.nlm.nih.gov/clinvar/variation/55396/</a:t>
            </a:r>
          </a:p>
          <a:p>
            <a:pPr lvl="0"/>
            <a:r>
              <a:rPr lang="en-IN" b="1" dirty="0" err="1"/>
              <a:t>Brzovic</a:t>
            </a:r>
            <a:r>
              <a:rPr lang="en-IN" b="1" dirty="0"/>
              <a:t>, P. S., Rajagopal, P., Hoyt, D. W., King, M. C., &amp; </a:t>
            </a:r>
            <a:r>
              <a:rPr lang="en-IN" b="1" dirty="0" err="1"/>
              <a:t>Klevit</a:t>
            </a:r>
            <a:r>
              <a:rPr lang="en-IN" b="1" dirty="0"/>
              <a:t>, R. E. (2001). Structure of a BRCA1–BARD1 heterodimeric RING–RING complex. </a:t>
            </a:r>
            <a:r>
              <a:rPr lang="en-IN" b="1" i="1" dirty="0"/>
              <a:t>Nature Structural Biology</a:t>
            </a:r>
            <a:r>
              <a:rPr lang="en-IN" b="1" dirty="0"/>
              <a:t>, 8(10), 833–837.</a:t>
            </a:r>
            <a:r>
              <a:rPr lang="en-IN" dirty="0"/>
              <a:t> 🔗 DOI: https://doi.org/10.1038/nsb1001-833.</a:t>
            </a:r>
          </a:p>
          <a:p>
            <a:pPr lvl="0"/>
            <a:r>
              <a:rPr lang="en-IN" b="1" dirty="0"/>
              <a:t>Endometrial cancer risk in women with germline </a:t>
            </a:r>
            <a:r>
              <a:rPr lang="en-IN" b="1" i="1" dirty="0"/>
              <a:t>BRCA1</a:t>
            </a:r>
            <a:r>
              <a:rPr lang="en-IN" b="1" dirty="0"/>
              <a:t> or </a:t>
            </a:r>
            <a:r>
              <a:rPr lang="en-IN" b="1" i="1" dirty="0"/>
              <a:t>BRCA2</a:t>
            </a:r>
            <a:r>
              <a:rPr lang="en-IN" b="1" dirty="0"/>
              <a:t> mutations: </a:t>
            </a:r>
            <a:r>
              <a:rPr lang="en-IN" b="1" dirty="0" err="1"/>
              <a:t>multicenter</a:t>
            </a:r>
            <a:r>
              <a:rPr lang="en-IN" b="1" dirty="0"/>
              <a:t> cohort study. </a:t>
            </a:r>
            <a:r>
              <a:rPr lang="en-IN" b="1" i="1" dirty="0"/>
              <a:t>Journal of the National Cancer Institute</a:t>
            </a:r>
            <a:r>
              <a:rPr lang="en-IN" b="1" dirty="0"/>
              <a:t>, 113(9), djab036.</a:t>
            </a:r>
            <a:r>
              <a:rPr lang="en-IN" dirty="0"/>
              <a:t> </a:t>
            </a:r>
            <a:r>
              <a:rPr lang="en-IN" b="1" u="sng" dirty="0">
                <a:hlinkClick r:id="rId4"/>
              </a:rPr>
              <a:t>https://doi.org/10.21203/rs.3.rs-1942605/v1</a:t>
            </a:r>
            <a:r>
              <a:rPr lang="en-IN" b="1" dirty="0"/>
              <a:t> </a:t>
            </a:r>
            <a:endParaRPr lang="en-IN" dirty="0"/>
          </a:p>
          <a:p>
            <a:pPr lvl="0"/>
            <a:r>
              <a:rPr lang="en-IN" dirty="0"/>
              <a:t>Farmer et al. (2005)</a:t>
            </a:r>
            <a:r>
              <a:rPr lang="en-IN" b="1" dirty="0"/>
              <a:t>Farmer, H., McCabe, N., Lord, C. J., Tutt, A. N., Johnson, D. A., Richardson, T. B., et al. (2005). Targeting the DNA repair defect in BRCA mutant cells as a therapeutic strategy. </a:t>
            </a:r>
            <a:r>
              <a:rPr lang="en-IN" b="1" i="1" dirty="0"/>
              <a:t>Nature</a:t>
            </a:r>
            <a:r>
              <a:rPr lang="en-IN" b="1" dirty="0"/>
              <a:t>, 434(7035), 917–921.</a:t>
            </a:r>
            <a:r>
              <a:rPr lang="en-IN" dirty="0"/>
              <a:t> 🔗 DOI: https://doi.org/10.1038/nature03445</a:t>
            </a:r>
          </a:p>
          <a:p>
            <a:pPr lvl="0"/>
            <a:r>
              <a:rPr lang="en-IN" b="1" dirty="0"/>
              <a:t>Findlay, G. M., Daza, R. M., Martin, B., Zhang, M. D., Leith, A. P., Gasperini, M., et al. (2018). Accurate classification of BRCA1 variants with saturation genome editing. </a:t>
            </a:r>
            <a:r>
              <a:rPr lang="en-IN" b="1" i="1" dirty="0"/>
              <a:t>Nature</a:t>
            </a:r>
            <a:r>
              <a:rPr lang="en-IN" b="1" dirty="0"/>
              <a:t>, 562(7726), 217–222.</a:t>
            </a:r>
            <a:r>
              <a:rPr lang="en-IN" dirty="0"/>
              <a:t> 🔗 DOI: https://doi.org/10.1038/s41586-018-0461-z</a:t>
            </a:r>
          </a:p>
          <a:p>
            <a:pPr lvl="0"/>
            <a:r>
              <a:rPr lang="en-IN" b="1" dirty="0"/>
              <a:t>Hashizume, R., Fukuda, M., Maeda, I., Nishikawa, H., Oyake, D., Yabuki, Y., et al. (2001). The RING heterodimer BRCA1–BARD1 is a ubiquitin ligase inactivated by a breast cancer-derived mutation. </a:t>
            </a:r>
            <a:r>
              <a:rPr lang="en-IN" b="1" i="1" dirty="0"/>
              <a:t>The Journal of Biological Chemistry</a:t>
            </a:r>
            <a:r>
              <a:rPr lang="en-IN" b="1" dirty="0"/>
              <a:t>, 276(18), 14537–14540.</a:t>
            </a:r>
            <a:r>
              <a:rPr lang="en-IN" dirty="0"/>
              <a:t> 🔗 DOI: </a:t>
            </a:r>
            <a:r>
              <a:rPr lang="en-IN" u="sng" dirty="0">
                <a:hlinkClick r:id="rId5"/>
              </a:rPr>
              <a:t>https://doi.org/10.1074/jbc.C000881200</a:t>
            </a:r>
            <a:endParaRPr lang="en-IN" dirty="0"/>
          </a:p>
          <a:p>
            <a:pPr lvl="0"/>
            <a:r>
              <a:rPr lang="en-IN" b="1" dirty="0"/>
              <a:t>Lord, C. J., &amp; Ashworth, A. (2017). PARP inhibitors: Synthetic lethality in the clinic. </a:t>
            </a:r>
            <a:r>
              <a:rPr lang="en-IN" b="1" i="1" dirty="0"/>
              <a:t>Science</a:t>
            </a:r>
            <a:r>
              <a:rPr lang="en-IN" b="1" dirty="0"/>
              <a:t>, 355(6330), 1152–1158.</a:t>
            </a:r>
            <a:r>
              <a:rPr lang="en-IN" dirty="0"/>
              <a:t> 🔗 DOI: </a:t>
            </a:r>
            <a:r>
              <a:rPr lang="en-IN" u="sng" dirty="0">
                <a:hlinkClick r:id="rId6"/>
              </a:rPr>
              <a:t>https://doi.org/10.1126/science.aam7344</a:t>
            </a:r>
            <a:endParaRPr lang="en-IN" dirty="0"/>
          </a:p>
          <a:p>
            <a:pPr lvl="0"/>
            <a:r>
              <a:rPr lang="en-IN" b="1" dirty="0"/>
              <a:t>Miki, Y., Swensen, J., Shattuck-</a:t>
            </a:r>
            <a:r>
              <a:rPr lang="en-IN" b="1" dirty="0" err="1"/>
              <a:t>Eidens</a:t>
            </a:r>
            <a:r>
              <a:rPr lang="en-IN" b="1" dirty="0"/>
              <a:t>, D., </a:t>
            </a:r>
            <a:r>
              <a:rPr lang="en-IN" b="1" dirty="0" err="1"/>
              <a:t>Futreal</a:t>
            </a:r>
            <a:r>
              <a:rPr lang="en-IN" b="1" dirty="0"/>
              <a:t>, P. A., Harshman, K., </a:t>
            </a:r>
            <a:r>
              <a:rPr lang="en-IN" b="1" dirty="0" err="1"/>
              <a:t>Tavtigian</a:t>
            </a:r>
            <a:r>
              <a:rPr lang="en-IN" b="1" dirty="0"/>
              <a:t>, S., et al. (1994). A strong candidate for the breast and ovarian cancer susceptibility gene BRCA1. </a:t>
            </a:r>
            <a:r>
              <a:rPr lang="en-IN" b="1" i="1" dirty="0"/>
              <a:t>Science</a:t>
            </a:r>
            <a:r>
              <a:rPr lang="en-IN" b="1" dirty="0"/>
              <a:t>, 266(5182), 66–71.</a:t>
            </a:r>
            <a:r>
              <a:rPr lang="en-IN" dirty="0"/>
              <a:t> 🔗 DOI: </a:t>
            </a:r>
            <a:r>
              <a:rPr lang="en-IN" u="sng" dirty="0">
                <a:hlinkClick r:id="rId7"/>
              </a:rPr>
              <a:t>https://doi.org/10.1126/science.7545954</a:t>
            </a:r>
            <a:endParaRPr lang="en-IN" dirty="0"/>
          </a:p>
          <a:p>
            <a:pPr lvl="0"/>
            <a:r>
              <a:rPr lang="en-IN" b="1" dirty="0"/>
              <a:t>Moynahan, M. E., Chiu, J. W., Koller, B. H., &amp; Jasin, M. (1999). BRCA1 controls homologous recombination. </a:t>
            </a:r>
            <a:r>
              <a:rPr lang="en-IN" b="1" i="1" dirty="0"/>
              <a:t>Molecular Cell</a:t>
            </a:r>
            <a:r>
              <a:rPr lang="en-IN" b="1" dirty="0"/>
              <a:t>, 4(4), 511–518.</a:t>
            </a:r>
            <a:r>
              <a:rPr lang="en-IN" dirty="0"/>
              <a:t> 🔗 DOI: </a:t>
            </a:r>
            <a:r>
              <a:rPr lang="en-IN" u="sng" dirty="0">
                <a:hlinkClick r:id="rId8"/>
              </a:rPr>
              <a:t>https://doi.org/10.1016/S1097-2765(00)80202-6</a:t>
            </a:r>
            <a:endParaRPr lang="en-IN" dirty="0"/>
          </a:p>
          <a:p>
            <a:pPr lvl="0"/>
            <a:r>
              <a:rPr lang="en-IN" b="1" dirty="0"/>
              <a:t>Schreiber, S. L. (2021). The rise of molecular glues. </a:t>
            </a:r>
            <a:r>
              <a:rPr lang="en-IN" b="1" i="1" dirty="0"/>
              <a:t>Cell</a:t>
            </a:r>
            <a:r>
              <a:rPr lang="en-IN" b="1" dirty="0"/>
              <a:t>, 184(1), 3–9.</a:t>
            </a:r>
            <a:r>
              <a:rPr lang="en-IN" dirty="0"/>
              <a:t> 🔗 DOI: </a:t>
            </a:r>
            <a:r>
              <a:rPr lang="en-IN" u="sng" dirty="0">
                <a:hlinkClick r:id="rId9"/>
              </a:rPr>
              <a:t>https://doi.org/10.1016/j.cell.2020.12.020</a:t>
            </a:r>
            <a:endParaRPr lang="en-IN" dirty="0"/>
          </a:p>
          <a:p>
            <a:pPr lvl="0"/>
            <a:r>
              <a:rPr lang="en-IN" b="1" dirty="0"/>
              <a:t>RCSB Protein Data Bank. BRCA1/BARD1 RING Domain Heterodimer. PDB ID: 1JM7.</a:t>
            </a:r>
            <a:r>
              <a:rPr lang="en-IN" dirty="0"/>
              <a:t> 🔗 https://doi.org/10.2210/pdb1JM7/pdb</a:t>
            </a:r>
          </a:p>
          <a:p>
            <a:pPr lvl="0"/>
            <a:r>
              <a:rPr lang="en-IN" b="1" dirty="0"/>
              <a:t>RCSB Protein Data Bank. Tandem BRCT Domains of Human BRCA1 Bound to </a:t>
            </a:r>
            <a:r>
              <a:rPr lang="en-IN" b="1" dirty="0" err="1"/>
              <a:t>Phosphopeptide</a:t>
            </a:r>
            <a:r>
              <a:rPr lang="en-IN" b="1" dirty="0"/>
              <a:t>. PDB ID: 1T15.</a:t>
            </a:r>
            <a:r>
              <a:rPr lang="en-IN" dirty="0"/>
              <a:t> 🔗 https://doi.org/10.2210/pdb1T15/pdb</a:t>
            </a:r>
          </a:p>
          <a:p>
            <a:endParaRPr lang="en-IN" dirty="0"/>
          </a:p>
        </p:txBody>
      </p:sp>
    </p:spTree>
    <p:extLst>
      <p:ext uri="{BB962C8B-B14F-4D97-AF65-F5344CB8AC3E}">
        <p14:creationId xmlns:p14="http://schemas.microsoft.com/office/powerpoint/2010/main" val="1400786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1939</Words>
  <Application>Microsoft Office PowerPoint</Application>
  <PresentationFormat>Widescreen</PresentationFormat>
  <Paragraphs>200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Aptos Narrow</vt:lpstr>
      <vt:lpstr>Arial</vt:lpstr>
      <vt:lpstr>Calibri</vt:lpstr>
      <vt:lpstr>Office Theme</vt:lpstr>
      <vt:lpstr>Computational Stratification of BRCA1 Missense Variants: Defining Mechanisms of Pathogenicity for Precision Oncology</vt:lpstr>
      <vt:lpstr>Introduction </vt:lpstr>
      <vt:lpstr>Structure and Functional Domains of BRCA1</vt:lpstr>
      <vt:lpstr>Research Gap</vt:lpstr>
      <vt:lpstr>Objectives </vt:lpstr>
      <vt:lpstr>PolyPhen-2 &amp; Mutation testing scores</vt:lpstr>
      <vt:lpstr>PolyPhen Score</vt:lpstr>
      <vt:lpstr>Structural Analysis of C61G</vt:lpstr>
      <vt:lpstr>Structural Analysis of W1739C</vt:lpstr>
      <vt:lpstr>Summary of Major Findings</vt:lpstr>
      <vt:lpstr>CONCLUSION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Ankesh Bashist</dc:creator>
  <cp:lastModifiedBy>Ankesh Bashist</cp:lastModifiedBy>
  <cp:revision>2</cp:revision>
  <dcterms:created xsi:type="dcterms:W3CDTF">2026-06-09T23:37:06Z</dcterms:created>
  <dcterms:modified xsi:type="dcterms:W3CDTF">2026-06-10T01:59:04Z</dcterms:modified>
</cp:coreProperties>
</file>